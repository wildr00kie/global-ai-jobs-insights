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y="6858000" cx="12192000"/>
  <p:notesSz cx="6858000" cy="9144000"/>
  <p:embeddedFontLst>
    <p:embeddedFont>
      <p:font typeface="Oswald"/>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iPXihDeazDw7WOpqk2ffqDxBJ/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font" Target="fonts/Oswald-regular.fntdata"/><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48" Type="http://customschemas.google.com/relationships/presentationmetadata" Target="metadata"/><Relationship Id="rId25" Type="http://schemas.openxmlformats.org/officeDocument/2006/relationships/slide" Target="slides/slide21.xml"/><Relationship Id="rId47" Type="http://schemas.openxmlformats.org/officeDocument/2006/relationships/font" Target="fonts/Oswald-bold.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7b1e8ae2ee01ccf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7b1e8ae2ee01cc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7b1e8ae2ee01ccf6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h7b1e8ae2ee01ccf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h7b1e8ae2ee01ccf6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h7b1e8ae2ee01ccf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3130402f1d16313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3130402f1d1631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h3130402f1d16313a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h3130402f1d16313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h3130402f1d16313a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h3130402f1d16313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h3130402f1d16313a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h3130402f1d16313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3130402f1d16313a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h3130402f1d16313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3130402f1d16313a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h3130402f1d16313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3130402f1d16313a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h3130402f1d16313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3130402f1d16313a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h3130402f1d16313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h3130402f1d16313a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h3130402f1d16313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3130402f1d16313a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h3130402f1d16313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h3130402f1d16313a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h3130402f1d16313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3130402f1d16313a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h3130402f1d16313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3130402f1d16313a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h3130402f1d16313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h3130402f1d16313a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h3130402f1d16313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h3130402f1d16313a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h3130402f1d16313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h3130402f1d16313a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h3130402f1d16313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h3130402f1d16313a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h3130402f1d16313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3"/>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3"/>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5"/>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5"/>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6"/>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6"/>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7"/>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7"/>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7"/>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7"/>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7"/>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0"/>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0"/>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1"/>
          <p:cNvSpPr/>
          <p:nvPr>
            <p:ph idx="2" type="pic"/>
          </p:nvPr>
        </p:nvSpPr>
        <p:spPr>
          <a:xfrm>
            <a:off x="5183188" y="987425"/>
            <a:ext cx="6172200" cy="4873500"/>
          </a:xfrm>
          <a:prstGeom prst="rect">
            <a:avLst/>
          </a:prstGeom>
          <a:noFill/>
          <a:ln>
            <a:noFill/>
          </a:ln>
        </p:spPr>
      </p:sp>
      <p:sp>
        <p:nvSpPr>
          <p:cNvPr id="64" name="Google Shape;64;p31"/>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2"/>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3"/>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3"/>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29761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latin typeface="Times New Roman"/>
                <a:ea typeface="Times New Roman"/>
                <a:cs typeface="Times New Roman"/>
                <a:sym typeface="Times New Roman"/>
              </a:rPr>
              <a:t>Global AI Jobs Presentation</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8" name="Shape 88"/>
        <p:cNvGrpSpPr/>
        <p:nvPr/>
      </p:nvGrpSpPr>
      <p:grpSpPr>
        <a:xfrm>
          <a:off x="0" y="0"/>
          <a:ext cx="0" cy="0"/>
          <a:chOff x="0" y="0"/>
          <a:chExt cx="0" cy="0"/>
        </a:xfrm>
      </p:grpSpPr>
      <p:pic>
        <p:nvPicPr>
          <p:cNvPr descr="1. Global Salary &amp;amp; Total Compensation Distribution (Box Plot)" id="89" name="Google Shape;89;p2"/>
          <p:cNvPicPr preferRelativeResize="0"/>
          <p:nvPr/>
        </p:nvPicPr>
        <p:blipFill rotWithShape="1">
          <a:blip r:embed="rId3">
            <a:alphaModFix/>
          </a:blip>
          <a:srcRect b="0" l="0" r="0" t="0"/>
          <a:stretch/>
        </p:blipFill>
        <p:spPr>
          <a:xfrm>
            <a:off x="0" y="0"/>
            <a:ext cx="12192002" cy="68579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3" name="Shape 93"/>
        <p:cNvGrpSpPr/>
        <p:nvPr/>
      </p:nvGrpSpPr>
      <p:grpSpPr>
        <a:xfrm>
          <a:off x="0" y="0"/>
          <a:ext cx="0" cy="0"/>
          <a:chOff x="0" y="0"/>
          <a:chExt cx="0" cy="0"/>
        </a:xfrm>
      </p:grpSpPr>
      <p:sp>
        <p:nvSpPr>
          <p:cNvPr id="94" name="Google Shape;94;h7b1e8ae2ee01ccf6_0_0"/>
          <p:cNvSpPr txBox="1"/>
          <p:nvPr/>
        </p:nvSpPr>
        <p:spPr>
          <a:xfrm>
            <a:off x="0" y="0"/>
            <a:ext cx="12192000" cy="67494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Calibri"/>
              <a:buChar char="●"/>
            </a:pPr>
            <a:r>
              <a:rPr b="1" lang="en-US" sz="2300">
                <a:solidFill>
                  <a:schemeClr val="dk1"/>
                </a:solidFill>
                <a:latin typeface="Oswald"/>
                <a:ea typeface="Oswald"/>
                <a:cs typeface="Oswald"/>
                <a:sym typeface="Oswald"/>
              </a:rPr>
              <a:t>Regional Salary Benchmarks:</a:t>
            </a:r>
            <a:r>
              <a:rPr lang="en-US" sz="2300">
                <a:solidFill>
                  <a:schemeClr val="dk1"/>
                </a:solidFill>
                <a:latin typeface="Oswald"/>
                <a:ea typeface="Oswald"/>
                <a:cs typeface="Oswald"/>
                <a:sym typeface="Oswald"/>
              </a:rPr>
              <a:t> North America leads all continents with the highest average base salary benchmark (~$180K USD), followed by Europe (~$160K USD) and Africa (~$160K USD). Asia, Oceania, and South America maintain lower average baselines between $140K and $150K USD.</a:t>
            </a:r>
            <a:endParaRPr sz="2300">
              <a:solidFill>
                <a:schemeClr val="dk1"/>
              </a:solidFill>
              <a:latin typeface="Oswald"/>
              <a:ea typeface="Oswald"/>
              <a:cs typeface="Oswald"/>
              <a:sym typeface="Oswald"/>
            </a:endParaRPr>
          </a:p>
          <a:p>
            <a:pPr indent="-374650" lvl="0" marL="457200" rtl="0" algn="l">
              <a:spcBef>
                <a:spcPts val="0"/>
              </a:spcBef>
              <a:spcAft>
                <a:spcPts val="0"/>
              </a:spcAft>
              <a:buClr>
                <a:schemeClr val="dk1"/>
              </a:buClr>
              <a:buSzPts val="2300"/>
              <a:buFont typeface="Oswald"/>
              <a:buChar char="●"/>
            </a:pPr>
            <a:r>
              <a:rPr lang="en-US" sz="2300">
                <a:solidFill>
                  <a:schemeClr val="dk1"/>
                </a:solidFill>
                <a:latin typeface="Oswald"/>
                <a:ea typeface="Oswald"/>
                <a:cs typeface="Oswald"/>
                <a:sym typeface="Oswald"/>
              </a:rPr>
              <a:t>Top Country Outliers: Switzerland commands the highest average base salary globally (~$230K USD), followed closely by the United States (~$222K USD) and Singapore (~$220K USD). </a:t>
            </a:r>
            <a:endParaRPr sz="2300">
              <a:solidFill>
                <a:schemeClr val="dk1"/>
              </a:solidFill>
              <a:latin typeface="Oswald"/>
              <a:ea typeface="Oswald"/>
              <a:cs typeface="Oswald"/>
              <a:sym typeface="Oswald"/>
            </a:endParaRPr>
          </a:p>
          <a:p>
            <a:pPr indent="-374650" lvl="0" marL="457200" rtl="0" algn="l">
              <a:spcBef>
                <a:spcPts val="0"/>
              </a:spcBef>
              <a:spcAft>
                <a:spcPts val="0"/>
              </a:spcAft>
              <a:buClr>
                <a:schemeClr val="dk1"/>
              </a:buClr>
              <a:buSzPts val="2300"/>
              <a:buFont typeface="Oswald"/>
              <a:buChar char="●"/>
            </a:pPr>
            <a:r>
              <a:rPr b="1" lang="en-US" sz="2300">
                <a:solidFill>
                  <a:schemeClr val="dk1"/>
                </a:solidFill>
                <a:latin typeface="Oswald"/>
                <a:ea typeface="Oswald"/>
                <a:cs typeface="Oswald"/>
                <a:sym typeface="Oswald"/>
              </a:rPr>
              <a:t>Intra-Regional Disparities: </a:t>
            </a:r>
            <a:endParaRPr b="1" sz="2300">
              <a:solidFill>
                <a:schemeClr val="dk1"/>
              </a:solidFill>
              <a:latin typeface="Oswald"/>
              <a:ea typeface="Oswald"/>
              <a:cs typeface="Oswald"/>
              <a:sym typeface="Oswald"/>
            </a:endParaRPr>
          </a:p>
          <a:p>
            <a:pPr indent="-374650" lvl="1" marL="9144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Asia:</a:t>
            </a:r>
            <a:r>
              <a:rPr lang="en-US" sz="2300">
                <a:solidFill>
                  <a:schemeClr val="dk1"/>
                </a:solidFill>
                <a:latin typeface="Oswald"/>
                <a:ea typeface="Oswald"/>
                <a:cs typeface="Oswald"/>
                <a:sym typeface="Oswald"/>
              </a:rPr>
              <a:t> Shows high internal variance, ranging from ~$100K USD in China, India, and Indonesia to over $200K USD in Israel and $220K USD in Singapore.</a:t>
            </a:r>
            <a:endParaRPr sz="2300">
              <a:solidFill>
                <a:schemeClr val="dk1"/>
              </a:solidFill>
              <a:latin typeface="Oswald"/>
              <a:ea typeface="Oswald"/>
              <a:cs typeface="Oswald"/>
              <a:sym typeface="Oswald"/>
            </a:endParaRPr>
          </a:p>
          <a:p>
            <a:pPr indent="-374650" lvl="1" marL="9144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North America:</a:t>
            </a:r>
            <a:r>
              <a:rPr lang="en-US" sz="2300">
                <a:solidFill>
                  <a:schemeClr val="dk1"/>
                </a:solidFill>
                <a:latin typeface="Oswald"/>
                <a:ea typeface="Oswald"/>
                <a:cs typeface="Oswald"/>
                <a:sym typeface="Oswald"/>
              </a:rPr>
              <a:t> Displays a significant gap between high-paying hubs in the US (~$222K USD) / Canada (~$190K USD) versus lower baselines in Mexico (~$145K USD).</a:t>
            </a:r>
            <a:endParaRPr sz="2300">
              <a:solidFill>
                <a:schemeClr val="dk1"/>
              </a:solidFill>
              <a:latin typeface="Oswald"/>
              <a:ea typeface="Oswald"/>
              <a:cs typeface="Oswald"/>
              <a:sym typeface="Oswald"/>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Bonus Compensation Mix (Color Scale):</a:t>
            </a:r>
            <a:r>
              <a:rPr lang="en-US" sz="2300">
                <a:solidFill>
                  <a:schemeClr val="dk1"/>
                </a:solidFill>
                <a:latin typeface="Oswald"/>
                <a:ea typeface="Oswald"/>
                <a:cs typeface="Oswald"/>
                <a:sym typeface="Oswald"/>
              </a:rPr>
              <a:t> </a:t>
            </a:r>
            <a:endParaRPr sz="2300">
              <a:solidFill>
                <a:schemeClr val="dk1"/>
              </a:solidFill>
              <a:latin typeface="Oswald"/>
              <a:ea typeface="Oswald"/>
              <a:cs typeface="Oswald"/>
              <a:sym typeface="Oswald"/>
            </a:endParaRPr>
          </a:p>
          <a:p>
            <a:pPr indent="-374650" lvl="1" marL="9144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High Variable Bonus Markets (Light Blue):</a:t>
            </a:r>
            <a:r>
              <a:rPr lang="en-US" sz="2300">
                <a:solidFill>
                  <a:schemeClr val="dk1"/>
                </a:solidFill>
                <a:latin typeface="Oswald"/>
                <a:ea typeface="Oswald"/>
                <a:cs typeface="Oswald"/>
                <a:sym typeface="Oswald"/>
              </a:rPr>
              <a:t> Markets like Singapore, Israel, United States, Germany, and Switzerland lean heavily on variable incentive bonuses (scaling up to 2,548%).</a:t>
            </a:r>
            <a:endParaRPr sz="2300">
              <a:solidFill>
                <a:schemeClr val="dk1"/>
              </a:solidFill>
              <a:latin typeface="Oswald"/>
              <a:ea typeface="Oswald"/>
              <a:cs typeface="Oswald"/>
              <a:sym typeface="Oswald"/>
            </a:endParaRPr>
          </a:p>
          <a:p>
            <a:pPr indent="-374650" lvl="1" marL="9144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High Fixed Base Markets (Dark Blue):</a:t>
            </a:r>
            <a:r>
              <a:rPr lang="en-US" sz="2300">
                <a:solidFill>
                  <a:schemeClr val="dk1"/>
                </a:solidFill>
                <a:latin typeface="Oswald"/>
                <a:ea typeface="Oswald"/>
                <a:cs typeface="Oswald"/>
                <a:sym typeface="Oswald"/>
              </a:rPr>
              <a:t> Markets like Japan and Sweden display darker shades, indicating higher base salaries with a lower percentage allocated to variable bonuses.</a:t>
            </a:r>
            <a:endParaRPr sz="2300">
              <a:solidFill>
                <a:schemeClr val="dk1"/>
              </a:solidFill>
              <a:latin typeface="Oswald"/>
              <a:ea typeface="Oswald"/>
              <a:cs typeface="Oswald"/>
              <a:sym typeface="Oswald"/>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Visualization Format Note:</a:t>
            </a:r>
            <a:r>
              <a:rPr lang="en-US" sz="2300">
                <a:solidFill>
                  <a:schemeClr val="dk1"/>
                </a:solidFill>
                <a:latin typeface="Oswald"/>
                <a:ea typeface="Oswald"/>
                <a:cs typeface="Oswald"/>
                <a:sym typeface="Oswald"/>
              </a:rPr>
              <a:t> While titled as a "Box Plot," the view actually renders as a Grouped Bar Chart showing Average Salary USD by country and continent, with bar color representing Sum of Bonus %.</a:t>
            </a:r>
            <a:endParaRPr sz="2300">
              <a:solidFill>
                <a:schemeClr val="dk1"/>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8" name="Shape 98"/>
        <p:cNvGrpSpPr/>
        <p:nvPr/>
      </p:nvGrpSpPr>
      <p:grpSpPr>
        <a:xfrm>
          <a:off x="0" y="0"/>
          <a:ext cx="0" cy="0"/>
          <a:chOff x="0" y="0"/>
          <a:chExt cx="0" cy="0"/>
        </a:xfrm>
      </p:grpSpPr>
      <p:pic>
        <p:nvPicPr>
          <p:cNvPr descr="2. Salary Band vs. Experience &amp;amp; Education Matrix (Scatter Plot / Trend Line)" id="99" name="Google Shape;99;p3"/>
          <p:cNvPicPr preferRelativeResize="0"/>
          <p:nvPr/>
        </p:nvPicPr>
        <p:blipFill rotWithShape="1">
          <a:blip r:embed="rId3">
            <a:alphaModFix/>
          </a:blip>
          <a:srcRect b="0" l="0" r="0" t="0"/>
          <a:stretch/>
        </p:blipFill>
        <p:spPr>
          <a:xfrm>
            <a:off x="0" y="-23125"/>
            <a:ext cx="12192002" cy="6915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3" name="Shape 103"/>
        <p:cNvGrpSpPr/>
        <p:nvPr/>
      </p:nvGrpSpPr>
      <p:grpSpPr>
        <a:xfrm>
          <a:off x="0" y="0"/>
          <a:ext cx="0" cy="0"/>
          <a:chOff x="0" y="0"/>
          <a:chExt cx="0" cy="0"/>
        </a:xfrm>
      </p:grpSpPr>
      <p:sp>
        <p:nvSpPr>
          <p:cNvPr id="104" name="Google Shape;104;h7b1e8ae2ee01ccf6_0_14"/>
          <p:cNvSpPr txBox="1"/>
          <p:nvPr/>
        </p:nvSpPr>
        <p:spPr>
          <a:xfrm>
            <a:off x="0" y="0"/>
            <a:ext cx="12192000" cy="69996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dk1"/>
              </a:buClr>
              <a:buSzPts val="2300"/>
              <a:buFont typeface="Calibri"/>
              <a:buChar char="●"/>
            </a:pPr>
            <a:r>
              <a:rPr b="1" lang="en-US" sz="2300">
                <a:solidFill>
                  <a:schemeClr val="dk1"/>
                </a:solidFill>
                <a:latin typeface="Oswald"/>
                <a:ea typeface="Oswald"/>
                <a:cs typeface="Oswald"/>
                <a:sym typeface="Oswald"/>
              </a:rPr>
              <a:t>Clear Tiering by Experience Level:</a:t>
            </a:r>
            <a:r>
              <a:rPr lang="en-US" sz="2300">
                <a:solidFill>
                  <a:schemeClr val="dk1"/>
                </a:solidFill>
                <a:latin typeface="Oswald"/>
                <a:ea typeface="Oswald"/>
                <a:cs typeface="Oswald"/>
                <a:sym typeface="Oswald"/>
              </a:rPr>
              <a:t> </a:t>
            </a:r>
            <a:endParaRPr sz="2300">
              <a:solidFill>
                <a:schemeClr val="dk1"/>
              </a:solidFill>
              <a:latin typeface="Oswald"/>
              <a:ea typeface="Oswald"/>
              <a:cs typeface="Oswald"/>
              <a:sym typeface="Oswald"/>
            </a:endParaRPr>
          </a:p>
          <a:p>
            <a:pPr indent="-374650" lvl="1" marL="914400" rtl="0" algn="l">
              <a:lnSpc>
                <a:spcPct val="115000"/>
              </a:lnSpc>
              <a:spcBef>
                <a:spcPts val="0"/>
              </a:spcBef>
              <a:spcAft>
                <a:spcPts val="0"/>
              </a:spcAft>
              <a:buClr>
                <a:schemeClr val="dk1"/>
              </a:buClr>
              <a:buSzPts val="2300"/>
              <a:buFont typeface="Calibri"/>
              <a:buChar char="○"/>
            </a:pPr>
            <a:r>
              <a:rPr b="1" lang="en-US" sz="2300">
                <a:solidFill>
                  <a:schemeClr val="dk1"/>
                </a:solidFill>
                <a:latin typeface="Oswald"/>
                <a:ea typeface="Oswald"/>
                <a:cs typeface="Oswald"/>
                <a:sym typeface="Oswald"/>
              </a:rPr>
              <a:t>Entry Level (Red):</a:t>
            </a:r>
            <a:r>
              <a:rPr lang="en-US" sz="2300">
                <a:solidFill>
                  <a:schemeClr val="dk1"/>
                </a:solidFill>
                <a:latin typeface="Oswald"/>
                <a:ea typeface="Oswald"/>
                <a:cs typeface="Oswald"/>
                <a:sym typeface="Oswald"/>
              </a:rPr>
              <a:t> Concentrates heavily under $100K–$150K USD across all experience years.</a:t>
            </a:r>
            <a:endParaRPr sz="2300">
              <a:solidFill>
                <a:schemeClr val="dk1"/>
              </a:solidFill>
              <a:latin typeface="Oswald"/>
              <a:ea typeface="Oswald"/>
              <a:cs typeface="Oswald"/>
              <a:sym typeface="Oswald"/>
            </a:endParaRPr>
          </a:p>
          <a:p>
            <a:pPr indent="-374650" lvl="1" marL="914400" rtl="0" algn="l">
              <a:lnSpc>
                <a:spcPct val="115000"/>
              </a:lnSpc>
              <a:spcBef>
                <a:spcPts val="0"/>
              </a:spcBef>
              <a:spcAft>
                <a:spcPts val="0"/>
              </a:spcAft>
              <a:buClr>
                <a:schemeClr val="dk1"/>
              </a:buClr>
              <a:buSzPts val="2300"/>
              <a:buFont typeface="Calibri"/>
              <a:buChar char="○"/>
            </a:pPr>
            <a:r>
              <a:rPr b="1" lang="en-US" sz="2300">
                <a:solidFill>
                  <a:schemeClr val="dk1"/>
                </a:solidFill>
                <a:latin typeface="Oswald"/>
                <a:ea typeface="Oswald"/>
                <a:cs typeface="Oswald"/>
                <a:sym typeface="Oswald"/>
              </a:rPr>
              <a:t>Mid Level (Orange) &amp; Lead Level (Green):</a:t>
            </a:r>
            <a:r>
              <a:rPr lang="en-US" sz="2300">
                <a:solidFill>
                  <a:schemeClr val="dk1"/>
                </a:solidFill>
                <a:latin typeface="Oswald"/>
                <a:ea typeface="Oswald"/>
                <a:cs typeface="Oswald"/>
                <a:sym typeface="Oswald"/>
              </a:rPr>
              <a:t> Occupy intermediate compensation bands, ranging between $150K and $250K USD.</a:t>
            </a:r>
            <a:endParaRPr sz="2300">
              <a:solidFill>
                <a:schemeClr val="dk1"/>
              </a:solidFill>
              <a:latin typeface="Oswald"/>
              <a:ea typeface="Oswald"/>
              <a:cs typeface="Oswald"/>
              <a:sym typeface="Oswald"/>
            </a:endParaRPr>
          </a:p>
          <a:p>
            <a:pPr indent="-374650" lvl="1" marL="914400" rtl="0" algn="l">
              <a:lnSpc>
                <a:spcPct val="115000"/>
              </a:lnSpc>
              <a:spcBef>
                <a:spcPts val="0"/>
              </a:spcBef>
              <a:spcAft>
                <a:spcPts val="0"/>
              </a:spcAft>
              <a:buClr>
                <a:schemeClr val="dk1"/>
              </a:buClr>
              <a:buSzPts val="2300"/>
              <a:buFont typeface="Calibri"/>
              <a:buChar char="○"/>
            </a:pPr>
            <a:r>
              <a:rPr b="1" lang="en-US" sz="2300">
                <a:solidFill>
                  <a:schemeClr val="dk1"/>
                </a:solidFill>
                <a:latin typeface="Oswald"/>
                <a:ea typeface="Oswald"/>
                <a:cs typeface="Oswald"/>
                <a:sym typeface="Oswald"/>
              </a:rPr>
              <a:t>Executive (Blue):</a:t>
            </a:r>
            <a:r>
              <a:rPr lang="en-US" sz="2300">
                <a:solidFill>
                  <a:schemeClr val="dk1"/>
                </a:solidFill>
                <a:latin typeface="Oswald"/>
                <a:ea typeface="Oswald"/>
                <a:cs typeface="Oswald"/>
                <a:sym typeface="Oswald"/>
              </a:rPr>
              <a:t> Dominates the top salary tier, spanning from $350K to over $700K USD.</a:t>
            </a:r>
            <a:endParaRPr sz="2300">
              <a:solidFill>
                <a:schemeClr val="dk1"/>
              </a:solidFill>
              <a:latin typeface="Oswald"/>
              <a:ea typeface="Oswald"/>
              <a:cs typeface="Oswald"/>
              <a:sym typeface="Oswald"/>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Flat Progression Within Experience Levels:</a:t>
            </a:r>
            <a:r>
              <a:rPr lang="en-US" sz="2300">
                <a:solidFill>
                  <a:schemeClr val="dk1"/>
                </a:solidFill>
                <a:latin typeface="Oswald"/>
                <a:ea typeface="Oswald"/>
                <a:cs typeface="Oswald"/>
                <a:sym typeface="Oswald"/>
              </a:rPr>
              <a:t> </a:t>
            </a:r>
            <a:endParaRPr sz="2300">
              <a:solidFill>
                <a:schemeClr val="dk1"/>
              </a:solidFill>
              <a:latin typeface="Oswald"/>
              <a:ea typeface="Oswald"/>
              <a:cs typeface="Oswald"/>
              <a:sym typeface="Oswald"/>
            </a:endParaRPr>
          </a:p>
          <a:p>
            <a:pPr indent="-374650" lvl="1" marL="914400" rtl="0" algn="l">
              <a:lnSpc>
                <a:spcPct val="115000"/>
              </a:lnSpc>
              <a:spcBef>
                <a:spcPts val="0"/>
              </a:spcBef>
              <a:spcAft>
                <a:spcPts val="0"/>
              </a:spcAft>
              <a:buClr>
                <a:schemeClr val="dk1"/>
              </a:buClr>
              <a:buSzPts val="2300"/>
              <a:buFont typeface="Oswald"/>
              <a:buChar char="○"/>
            </a:pPr>
            <a:r>
              <a:rPr lang="en-US" sz="2300">
                <a:solidFill>
                  <a:schemeClr val="dk1"/>
                </a:solidFill>
                <a:latin typeface="Oswald"/>
                <a:ea typeface="Oswald"/>
                <a:cs typeface="Oswald"/>
                <a:sym typeface="Oswald"/>
              </a:rPr>
              <a:t>Trend lines for each experience level are nearly horizontal, demonstrating that accumulating years of tenure within a single tier does not meaningfully increase base pay.</a:t>
            </a:r>
            <a:endParaRPr sz="2300">
              <a:solidFill>
                <a:schemeClr val="dk1"/>
              </a:solidFill>
              <a:latin typeface="Oswald"/>
              <a:ea typeface="Oswald"/>
              <a:cs typeface="Oswald"/>
              <a:sym typeface="Oswald"/>
            </a:endParaRPr>
          </a:p>
          <a:p>
            <a:pPr indent="-374650" lvl="1" marL="914400" rtl="0" algn="l">
              <a:lnSpc>
                <a:spcPct val="115000"/>
              </a:lnSpc>
              <a:spcBef>
                <a:spcPts val="0"/>
              </a:spcBef>
              <a:spcAft>
                <a:spcPts val="0"/>
              </a:spcAft>
              <a:buClr>
                <a:schemeClr val="dk1"/>
              </a:buClr>
              <a:buSzPts val="2300"/>
              <a:buFont typeface="Oswald"/>
              <a:buChar char="○"/>
            </a:pPr>
            <a:r>
              <a:rPr lang="en-US" sz="2300">
                <a:solidFill>
                  <a:schemeClr val="dk1"/>
                </a:solidFill>
                <a:latin typeface="Oswald"/>
                <a:ea typeface="Oswald"/>
                <a:cs typeface="Oswald"/>
                <a:sym typeface="Oswald"/>
              </a:rPr>
              <a:t>Vertical progression (advancing from Entry $\rightarrow$ Lead $\rightarrow$ Executive) yields significantly higher pay increases than horizontal tenure growth.</a:t>
            </a:r>
            <a:endParaRPr sz="2300">
              <a:solidFill>
                <a:schemeClr val="dk1"/>
              </a:solidFill>
              <a:latin typeface="Oswald"/>
              <a:ea typeface="Oswald"/>
              <a:cs typeface="Oswald"/>
              <a:sym typeface="Oswald"/>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Education Drives High Compensation Outliers:</a:t>
            </a:r>
            <a:r>
              <a:rPr lang="en-US" sz="2300">
                <a:solidFill>
                  <a:schemeClr val="dk1"/>
                </a:solidFill>
                <a:latin typeface="Oswald"/>
                <a:ea typeface="Oswald"/>
                <a:cs typeface="Oswald"/>
                <a:sym typeface="Oswald"/>
              </a:rPr>
              <a:t> </a:t>
            </a:r>
            <a:endParaRPr sz="2300">
              <a:solidFill>
                <a:schemeClr val="dk1"/>
              </a:solidFill>
              <a:latin typeface="Oswald"/>
              <a:ea typeface="Oswald"/>
              <a:cs typeface="Oswald"/>
              <a:sym typeface="Oswald"/>
            </a:endParaRPr>
          </a:p>
          <a:p>
            <a:pPr indent="-374650" lvl="1" marL="914400" rtl="0" algn="l">
              <a:lnSpc>
                <a:spcPct val="115000"/>
              </a:lnSpc>
              <a:spcBef>
                <a:spcPts val="0"/>
              </a:spcBef>
              <a:spcAft>
                <a:spcPts val="0"/>
              </a:spcAft>
              <a:buClr>
                <a:schemeClr val="dk1"/>
              </a:buClr>
              <a:buSzPts val="2300"/>
              <a:buFont typeface="Oswald"/>
              <a:buChar char="○"/>
            </a:pPr>
            <a:r>
              <a:rPr lang="en-US" sz="2300">
                <a:solidFill>
                  <a:schemeClr val="dk1"/>
                </a:solidFill>
                <a:latin typeface="Oswald"/>
                <a:ea typeface="Oswald"/>
                <a:cs typeface="Oswald"/>
                <a:sym typeface="Oswald"/>
              </a:rPr>
              <a:t>Top pay outliers ($500K–$700K+ USD) consist primarily of Master's ($\square$), PhD ($+$), and Bachelor's ($\bigcirc$) degree requirements.</a:t>
            </a:r>
            <a:endParaRPr sz="2300">
              <a:solidFill>
                <a:schemeClr val="dk1"/>
              </a:solidFill>
              <a:latin typeface="Oswald"/>
              <a:ea typeface="Oswald"/>
              <a:cs typeface="Oswald"/>
              <a:sym typeface="Oswald"/>
            </a:endParaRPr>
          </a:p>
          <a:p>
            <a:pPr indent="-374650" lvl="1" marL="914400" rtl="0" algn="l">
              <a:lnSpc>
                <a:spcPct val="115000"/>
              </a:lnSpc>
              <a:spcBef>
                <a:spcPts val="0"/>
              </a:spcBef>
              <a:spcAft>
                <a:spcPts val="0"/>
              </a:spcAft>
              <a:buClr>
                <a:schemeClr val="dk1"/>
              </a:buClr>
              <a:buSzPts val="2300"/>
              <a:buFont typeface="Oswald"/>
              <a:buChar char="○"/>
            </a:pPr>
            <a:r>
              <a:rPr lang="en-US" sz="2300">
                <a:solidFill>
                  <a:schemeClr val="dk1"/>
                </a:solidFill>
                <a:latin typeface="Oswald"/>
                <a:ea typeface="Oswald"/>
                <a:cs typeface="Oswald"/>
                <a:sym typeface="Oswald"/>
              </a:rPr>
              <a:t>Postdoctoral ($\times$) roles appear at both lower entry-level compensation bands ($0–3$ years) and upper executive levels ($20$ years).</a:t>
            </a:r>
            <a:endParaRPr sz="2300">
              <a:solidFill>
                <a:schemeClr val="dk1"/>
              </a:solidFill>
              <a:latin typeface="Oswald"/>
              <a:ea typeface="Oswald"/>
              <a:cs typeface="Oswald"/>
              <a:sym typeface="Oswald"/>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Significant Compensation Dispersion:</a:t>
            </a:r>
            <a:r>
              <a:rPr lang="en-US" sz="2300">
                <a:solidFill>
                  <a:schemeClr val="dk1"/>
                </a:solidFill>
                <a:latin typeface="Oswald"/>
                <a:ea typeface="Oswald"/>
                <a:cs typeface="Oswald"/>
                <a:sym typeface="Oswald"/>
              </a:rPr>
              <a:t> At identical experience benchmarks (e.g., 0, 10, or 12 years), base salaries vary widely from under $50K to over $700K USD based on job title tier and education requirements.</a:t>
            </a:r>
            <a:endParaRPr sz="2300">
              <a:solidFill>
                <a:schemeClr val="dk1"/>
              </a:solidFill>
              <a:latin typeface="Oswald"/>
              <a:ea typeface="Oswald"/>
              <a:cs typeface="Oswald"/>
              <a:sym typeface="Oswa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8" name="Shape 108"/>
        <p:cNvGrpSpPr/>
        <p:nvPr/>
      </p:nvGrpSpPr>
      <p:grpSpPr>
        <a:xfrm>
          <a:off x="0" y="0"/>
          <a:ext cx="0" cy="0"/>
          <a:chOff x="0" y="0"/>
          <a:chExt cx="0" cy="0"/>
        </a:xfrm>
      </p:grpSpPr>
      <p:pic>
        <p:nvPicPr>
          <p:cNvPr descr="3. Equity &amp;amp; Incentive Breakdown by Company Size (100% Stacked Bar Chart)" id="109" name="Google Shape;109;p4"/>
          <p:cNvPicPr preferRelativeResize="0"/>
          <p:nvPr/>
        </p:nvPicPr>
        <p:blipFill rotWithShape="1">
          <a:blip r:embed="rId3">
            <a:alphaModFix/>
          </a:blip>
          <a:srcRect b="0" l="0" r="0" t="0"/>
          <a:stretch/>
        </p:blipFill>
        <p:spPr>
          <a:xfrm>
            <a:off x="0" y="0"/>
            <a:ext cx="12192002" cy="68579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3" name="Shape 113"/>
        <p:cNvGrpSpPr/>
        <p:nvPr/>
      </p:nvGrpSpPr>
      <p:grpSpPr>
        <a:xfrm>
          <a:off x="0" y="0"/>
          <a:ext cx="0" cy="0"/>
          <a:chOff x="0" y="0"/>
          <a:chExt cx="0" cy="0"/>
        </a:xfrm>
      </p:grpSpPr>
      <p:sp>
        <p:nvSpPr>
          <p:cNvPr id="114" name="Google Shape;114;h7b1e8ae2ee01ccf6_0_28"/>
          <p:cNvSpPr txBox="1"/>
          <p:nvPr/>
        </p:nvSpPr>
        <p:spPr>
          <a:xfrm>
            <a:off x="0" y="0"/>
            <a:ext cx="12192000" cy="6864900"/>
          </a:xfrm>
          <a:prstGeom prst="rect">
            <a:avLst/>
          </a:prstGeom>
          <a:noFill/>
          <a:ln>
            <a:noFill/>
          </a:ln>
        </p:spPr>
        <p:txBody>
          <a:bodyPr anchorCtr="0" anchor="t" bIns="91425" lIns="91425" spcFirstLastPara="1" rIns="91425" wrap="square" tIns="91425">
            <a:spAutoFit/>
          </a:bodyPr>
          <a:lstStyle/>
          <a:p>
            <a:pPr indent="-425450" lvl="0" marL="457200" rtl="0" algn="l">
              <a:spcBef>
                <a:spcPts val="0"/>
              </a:spcBef>
              <a:spcAft>
                <a:spcPts val="0"/>
              </a:spcAft>
              <a:buClr>
                <a:schemeClr val="dk1"/>
              </a:buClr>
              <a:buSzPts val="3100"/>
              <a:buChar char="●"/>
            </a:pPr>
            <a:r>
              <a:rPr b="1" lang="en-US" sz="3100">
                <a:solidFill>
                  <a:schemeClr val="dk1"/>
                </a:solidFill>
                <a:latin typeface="Oswald"/>
                <a:ea typeface="Oswald"/>
                <a:cs typeface="Oswald"/>
                <a:sym typeface="Oswald"/>
              </a:rPr>
              <a:t>Consistent</a:t>
            </a:r>
            <a:r>
              <a:rPr b="1" lang="en-US" sz="3100">
                <a:solidFill>
                  <a:schemeClr val="dk1"/>
                </a:solidFill>
                <a:latin typeface="Oswald"/>
                <a:ea typeface="Oswald"/>
                <a:cs typeface="Oswald"/>
                <a:sym typeface="Oswald"/>
              </a:rPr>
              <a:t> Equity Standard Across Tiers:</a:t>
            </a:r>
            <a:r>
              <a:rPr lang="en-US" sz="3100">
                <a:solidFill>
                  <a:schemeClr val="dk1"/>
                </a:solidFill>
                <a:latin typeface="Oswald"/>
                <a:ea typeface="Oswald"/>
                <a:cs typeface="Oswald"/>
                <a:sym typeface="Oswald"/>
              </a:rPr>
              <a:t> Across all organization tiers, roughly one-third (~35%–37%) of job postings include equity, while two-thirds (~63%–65%) do not.</a:t>
            </a:r>
            <a:endParaRPr sz="3100">
              <a:solidFill>
                <a:schemeClr val="dk1"/>
              </a:solidFill>
              <a:latin typeface="Oswald"/>
              <a:ea typeface="Oswald"/>
              <a:cs typeface="Oswald"/>
              <a:sym typeface="Oswald"/>
            </a:endParaRPr>
          </a:p>
          <a:p>
            <a:pPr indent="-425450" lvl="0" marL="457200" rtl="0" algn="l">
              <a:spcBef>
                <a:spcPts val="0"/>
              </a:spcBef>
              <a:spcAft>
                <a:spcPts val="0"/>
              </a:spcAft>
              <a:buClr>
                <a:schemeClr val="dk1"/>
              </a:buClr>
              <a:buSzPts val="3100"/>
              <a:buChar char="●"/>
            </a:pPr>
            <a:r>
              <a:rPr b="1" lang="en-US" sz="3100">
                <a:solidFill>
                  <a:schemeClr val="dk1"/>
                </a:solidFill>
                <a:latin typeface="Oswald"/>
                <a:ea typeface="Oswald"/>
                <a:cs typeface="Oswald"/>
                <a:sym typeface="Oswald"/>
              </a:rPr>
              <a:t>Highest Equity Rates in Small Companies:</a:t>
            </a:r>
            <a:r>
              <a:rPr lang="en-US" sz="3100">
                <a:solidFill>
                  <a:schemeClr val="dk1"/>
                </a:solidFill>
                <a:latin typeface="Oswald"/>
                <a:ea typeface="Oswald"/>
                <a:cs typeface="Oswald"/>
                <a:sym typeface="Oswald"/>
              </a:rPr>
              <a:t> Small companies (1–50 employees) offer equity at the highest rate among all size tiers at 36.78%. </a:t>
            </a:r>
            <a:endParaRPr sz="3100">
              <a:solidFill>
                <a:schemeClr val="dk1"/>
              </a:solidFill>
              <a:latin typeface="Oswald"/>
              <a:ea typeface="Oswald"/>
              <a:cs typeface="Oswald"/>
              <a:sym typeface="Oswald"/>
            </a:endParaRPr>
          </a:p>
          <a:p>
            <a:pPr indent="-425450" lvl="0" marL="457200" rtl="0" algn="l">
              <a:spcBef>
                <a:spcPts val="0"/>
              </a:spcBef>
              <a:spcAft>
                <a:spcPts val="0"/>
              </a:spcAft>
              <a:buClr>
                <a:schemeClr val="dk1"/>
              </a:buClr>
              <a:buSzPts val="3100"/>
              <a:buChar char="●"/>
            </a:pPr>
            <a:r>
              <a:rPr b="1" lang="en-US" sz="3100">
                <a:solidFill>
                  <a:schemeClr val="dk1"/>
                </a:solidFill>
                <a:latin typeface="Oswald"/>
                <a:ea typeface="Oswald"/>
                <a:cs typeface="Oswald"/>
                <a:sym typeface="Oswald"/>
              </a:rPr>
              <a:t>Enterprise Offerings Follow Closely:</a:t>
            </a:r>
            <a:r>
              <a:rPr lang="en-US" sz="3100">
                <a:solidFill>
                  <a:schemeClr val="dk1"/>
                </a:solidFill>
                <a:latin typeface="Oswald"/>
                <a:ea typeface="Oswald"/>
                <a:cs typeface="Oswald"/>
                <a:sym typeface="Oswald"/>
              </a:rPr>
              <a:t> Enterprise organizations (5000+ employees) rank second, offering equity in 36.66% of posted roles. </a:t>
            </a:r>
            <a:endParaRPr sz="3100">
              <a:solidFill>
                <a:schemeClr val="dk1"/>
              </a:solidFill>
              <a:latin typeface="Oswald"/>
              <a:ea typeface="Oswald"/>
              <a:cs typeface="Oswald"/>
              <a:sym typeface="Oswald"/>
            </a:endParaRPr>
          </a:p>
          <a:p>
            <a:pPr indent="-425450" lvl="0" marL="457200" rtl="0" algn="l">
              <a:spcBef>
                <a:spcPts val="0"/>
              </a:spcBef>
              <a:spcAft>
                <a:spcPts val="0"/>
              </a:spcAft>
              <a:buClr>
                <a:schemeClr val="dk1"/>
              </a:buClr>
              <a:buSzPts val="3100"/>
              <a:buChar char="●"/>
            </a:pPr>
            <a:r>
              <a:rPr b="1" lang="en-US" sz="3100">
                <a:solidFill>
                  <a:schemeClr val="dk1"/>
                </a:solidFill>
                <a:latin typeface="Oswald"/>
                <a:ea typeface="Oswald"/>
                <a:cs typeface="Oswald"/>
                <a:sym typeface="Oswald"/>
              </a:rPr>
              <a:t>Lowest Adoption in Medium Firms:</a:t>
            </a:r>
            <a:r>
              <a:rPr lang="en-US" sz="3100">
                <a:solidFill>
                  <a:schemeClr val="dk1"/>
                </a:solidFill>
                <a:latin typeface="Oswald"/>
                <a:ea typeface="Oswald"/>
                <a:cs typeface="Oswald"/>
                <a:sym typeface="Oswald"/>
              </a:rPr>
              <a:t> Medium-sized companies (51–500 employees) report the lowest equity inclusion rate at 34.83% (with 65.17% offering no equity). </a:t>
            </a:r>
            <a:endParaRPr sz="3100">
              <a:solidFill>
                <a:schemeClr val="dk1"/>
              </a:solidFill>
              <a:latin typeface="Oswald"/>
              <a:ea typeface="Oswald"/>
              <a:cs typeface="Oswald"/>
              <a:sym typeface="Oswald"/>
            </a:endParaRPr>
          </a:p>
          <a:p>
            <a:pPr indent="-425450" lvl="0" marL="457200" rtl="0" algn="l">
              <a:spcBef>
                <a:spcPts val="0"/>
              </a:spcBef>
              <a:spcAft>
                <a:spcPts val="0"/>
              </a:spcAft>
              <a:buClr>
                <a:schemeClr val="dk1"/>
              </a:buClr>
              <a:buSzPts val="3100"/>
              <a:buChar char="●"/>
            </a:pPr>
            <a:r>
              <a:rPr b="1" lang="en-US" sz="3100">
                <a:solidFill>
                  <a:schemeClr val="dk1"/>
                </a:solidFill>
                <a:latin typeface="Oswald"/>
                <a:ea typeface="Oswald"/>
                <a:cs typeface="Oswald"/>
                <a:sym typeface="Oswald"/>
              </a:rPr>
              <a:t>Low Overall Variance Across Scale:</a:t>
            </a:r>
            <a:r>
              <a:rPr lang="en-US" sz="3100">
                <a:solidFill>
                  <a:schemeClr val="dk1"/>
                </a:solidFill>
                <a:latin typeface="Oswald"/>
                <a:ea typeface="Oswald"/>
                <a:cs typeface="Oswald"/>
                <a:sym typeface="Oswald"/>
              </a:rPr>
              <a:t> The total variation between the highest tier (Small at 36.78%) and lowest tier (Medium at 34.83%) is less than 2 percentage points, indicating company scale does not significantly alter equity offering likelihood.</a:t>
            </a:r>
            <a:endParaRPr sz="3100">
              <a:solidFill>
                <a:schemeClr val="dk1"/>
              </a:solidFill>
              <a:latin typeface="Oswald"/>
              <a:ea typeface="Oswald"/>
              <a:cs typeface="Oswald"/>
              <a:sym typeface="Oswa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8" name="Shape 118"/>
        <p:cNvGrpSpPr/>
        <p:nvPr/>
      </p:nvGrpSpPr>
      <p:grpSpPr>
        <a:xfrm>
          <a:off x="0" y="0"/>
          <a:ext cx="0" cy="0"/>
          <a:chOff x="0" y="0"/>
          <a:chExt cx="0" cy="0"/>
        </a:xfrm>
      </p:grpSpPr>
      <p:pic>
        <p:nvPicPr>
          <p:cNvPr descr="Compensation &amp;amp; Equity Analytics" id="119" name="Google Shape;119;p5"/>
          <p:cNvPicPr preferRelativeResize="0"/>
          <p:nvPr/>
        </p:nvPicPr>
        <p:blipFill rotWithShape="1">
          <a:blip r:embed="rId3">
            <a:alphaModFix/>
          </a:blip>
          <a:srcRect b="0" l="0" r="0" t="0"/>
          <a:stretch/>
        </p:blipFill>
        <p:spPr>
          <a:xfrm>
            <a:off x="1621275" y="-60525"/>
            <a:ext cx="8953950" cy="70123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3" name="Shape 123"/>
        <p:cNvGrpSpPr/>
        <p:nvPr/>
      </p:nvGrpSpPr>
      <p:grpSpPr>
        <a:xfrm>
          <a:off x="0" y="0"/>
          <a:ext cx="0" cy="0"/>
          <a:chOff x="0" y="0"/>
          <a:chExt cx="0" cy="0"/>
        </a:xfrm>
      </p:grpSpPr>
      <p:sp>
        <p:nvSpPr>
          <p:cNvPr id="124" name="Google Shape;124;h3130402f1d16313a_0_0"/>
          <p:cNvSpPr txBox="1"/>
          <p:nvPr/>
        </p:nvSpPr>
        <p:spPr>
          <a:xfrm>
            <a:off x="0" y="0"/>
            <a:ext cx="12192000" cy="68343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Cross-Dimensional Compensation Architecture:</a:t>
            </a:r>
            <a:r>
              <a:rPr lang="en-US" sz="2400">
                <a:solidFill>
                  <a:schemeClr val="dk1"/>
                </a:solidFill>
                <a:latin typeface="Oswald"/>
                <a:ea typeface="Oswald"/>
                <a:cs typeface="Oswald"/>
                <a:sym typeface="Oswald"/>
              </a:rPr>
              <a:t> Global AI compensation relies on a multi-tiered rewards model where geographic market determines the base pay ceiling (e.g., ~$230K in Switzerland/US vs. ~$100K in emerging Asian markets), role level dictates fixed salary progression rather than linear tenure, and equity inclusion remains universally baseline-standardized across roughly 35%–37% of all roles regardless of company scale.</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Hierarchy and Skill over Tenure:</a:t>
            </a:r>
            <a:r>
              <a:rPr lang="en-US" sz="2400">
                <a:solidFill>
                  <a:schemeClr val="dk1"/>
                </a:solidFill>
                <a:latin typeface="Oswald"/>
                <a:ea typeface="Oswald"/>
                <a:cs typeface="Oswald"/>
                <a:sym typeface="Oswald"/>
              </a:rPr>
              <a:t> Career progression data shows that accumulating years of experience within a single level yields minimal salary increases (reflected in flat tenure trend lines). Significant compensation jumps require vertical title elevation (e.g., advancing to Lead or Executive) or specialized educational credentials (Master’s/PhD). </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Universal Total Rewards Standardization:</a:t>
            </a:r>
            <a:r>
              <a:rPr lang="en-US" sz="2400">
                <a:solidFill>
                  <a:schemeClr val="dk1"/>
                </a:solidFill>
                <a:latin typeface="Oswald"/>
                <a:ea typeface="Oswald"/>
                <a:cs typeface="Oswald"/>
                <a:sym typeface="Oswald"/>
              </a:rPr>
              <a:t> Despite stark geographic salary gaps and clear experience-tier boundaries, equity offering rates remain remarkably consistent across company sizes—ranging tightly between 34.83% (Medium) and 36.78% (Small). This highlights that equity is treated as a standard talent acquisition incentive rather than a benefit exclusive to large enterprises or early-stage startups. </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Strategic Talent Acquisition Opportunities:</a:t>
            </a:r>
            <a:r>
              <a:rPr lang="en-US" sz="2400">
                <a:solidFill>
                  <a:schemeClr val="dk1"/>
                </a:solidFill>
                <a:latin typeface="Oswald"/>
                <a:ea typeface="Oswald"/>
                <a:cs typeface="Oswald"/>
                <a:sym typeface="Oswald"/>
              </a:rPr>
              <a:t> Multi-national organizations can optimize HR budgets by leveraging geographic salary arbitrage across neighboring countries, while structuring competitive offers around bonus incentives and clear vertical career pathways rather than relying solely on tenure-based compensation. </a:t>
            </a:r>
            <a:endParaRPr sz="2400">
              <a:solidFill>
                <a:schemeClr val="dk1"/>
              </a:solidFill>
              <a:latin typeface="Oswald"/>
              <a:ea typeface="Oswald"/>
              <a:cs typeface="Oswald"/>
              <a:sym typeface="Oswa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8" name="Shape 128"/>
        <p:cNvGrpSpPr/>
        <p:nvPr/>
      </p:nvGrpSpPr>
      <p:grpSpPr>
        <a:xfrm>
          <a:off x="0" y="0"/>
          <a:ext cx="0" cy="0"/>
          <a:chOff x="0" y="0"/>
          <a:chExt cx="0" cy="0"/>
        </a:xfrm>
      </p:grpSpPr>
      <p:pic>
        <p:nvPicPr>
          <p:cNvPr descr="4. Corporate AI Investment vs. Market Maturity Map (Symbol Map / Heatmap)" id="129" name="Google Shape;129;p6"/>
          <p:cNvPicPr preferRelativeResize="0"/>
          <p:nvPr/>
        </p:nvPicPr>
        <p:blipFill rotWithShape="1">
          <a:blip r:embed="rId3">
            <a:alphaModFix/>
          </a:blip>
          <a:srcRect b="0" l="0" r="0" t="0"/>
          <a:stretch/>
        </p:blipFill>
        <p:spPr>
          <a:xfrm>
            <a:off x="0" y="0"/>
            <a:ext cx="12192000" cy="68579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3" name="Shape 133"/>
        <p:cNvGrpSpPr/>
        <p:nvPr/>
      </p:nvGrpSpPr>
      <p:grpSpPr>
        <a:xfrm>
          <a:off x="0" y="0"/>
          <a:ext cx="0" cy="0"/>
          <a:chOff x="0" y="0"/>
          <a:chExt cx="0" cy="0"/>
        </a:xfrm>
      </p:grpSpPr>
      <p:sp>
        <p:nvSpPr>
          <p:cNvPr id="134" name="Google Shape;134;h3130402f1d16313a_0_10"/>
          <p:cNvSpPr txBox="1"/>
          <p:nvPr/>
        </p:nvSpPr>
        <p:spPr>
          <a:xfrm>
            <a:off x="0" y="0"/>
            <a:ext cx="12192000" cy="6567900"/>
          </a:xfrm>
          <a:prstGeom prst="rect">
            <a:avLst/>
          </a:prstGeom>
          <a:noFill/>
          <a:ln>
            <a:noFill/>
          </a:ln>
        </p:spPr>
        <p:txBody>
          <a:bodyPr anchorCtr="0" anchor="t" bIns="91425" lIns="91425" spcFirstLastPara="1" rIns="91425" wrap="square" tIns="91425">
            <a:spAutoFit/>
          </a:bodyPr>
          <a:lstStyle/>
          <a:p>
            <a:pPr indent="-393700" lvl="0" marL="457200" rtl="0" algn="l">
              <a:lnSpc>
                <a:spcPct val="115000"/>
              </a:lnSpc>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Global Investment Concentration:</a:t>
            </a:r>
            <a:r>
              <a:rPr lang="en-US" sz="2600">
                <a:solidFill>
                  <a:schemeClr val="dk1"/>
                </a:solidFill>
                <a:latin typeface="Oswald"/>
                <a:ea typeface="Oswald"/>
                <a:cs typeface="Oswald"/>
                <a:sym typeface="Oswald"/>
              </a:rPr>
              <a:t> Corporate AI investment capital is heavily clustered in Europe and Asia, with secondary hubs distributed across North America, South America, and Africa.</a:t>
            </a:r>
            <a:endParaRPr sz="2600">
              <a:solidFill>
                <a:schemeClr val="dk1"/>
              </a:solidFill>
              <a:latin typeface="Oswald"/>
              <a:ea typeface="Oswald"/>
              <a:cs typeface="Oswald"/>
              <a:sym typeface="Oswald"/>
            </a:endParaRPr>
          </a:p>
          <a:p>
            <a:pPr indent="-393700" lvl="0" marL="457200" rtl="0" algn="l">
              <a:lnSpc>
                <a:spcPct val="115000"/>
              </a:lnSpc>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Capital Scale Dispersion (Bubble Size):</a:t>
            </a:r>
            <a:r>
              <a:rPr lang="en-US" sz="2600">
                <a:solidFill>
                  <a:schemeClr val="dk1"/>
                </a:solidFill>
                <a:latin typeface="Oswald"/>
                <a:ea typeface="Oswald"/>
                <a:cs typeface="Oswald"/>
                <a:sym typeface="Oswald"/>
              </a:rPr>
              <a:t> Corporate AI investment per country ranges from $16,664 Million up to $37,376 Million, as indicated by the symbol sizing.</a:t>
            </a:r>
            <a:endParaRPr sz="2600">
              <a:solidFill>
                <a:schemeClr val="dk1"/>
              </a:solidFill>
              <a:latin typeface="Oswald"/>
              <a:ea typeface="Oswald"/>
              <a:cs typeface="Oswald"/>
              <a:sym typeface="Oswald"/>
            </a:endParaRPr>
          </a:p>
          <a:p>
            <a:pPr indent="-393700" lvl="0" marL="457200" rtl="0" algn="l">
              <a:lnSpc>
                <a:spcPct val="115000"/>
              </a:lnSpc>
              <a:spcBef>
                <a:spcPts val="0"/>
              </a:spcBef>
              <a:spcAft>
                <a:spcPts val="0"/>
              </a:spcAft>
              <a:buClr>
                <a:schemeClr val="dk1"/>
              </a:buClr>
              <a:buSzPts val="2600"/>
              <a:buFont typeface="Oswald"/>
              <a:buChar char="●"/>
            </a:pPr>
            <a:r>
              <a:rPr b="1" lang="en-US" sz="2600">
                <a:solidFill>
                  <a:schemeClr val="dk1"/>
                </a:solidFill>
                <a:latin typeface="Oswald"/>
                <a:ea typeface="Oswald"/>
                <a:cs typeface="Oswald"/>
                <a:sym typeface="Oswald"/>
              </a:rPr>
              <a:t>AI Market Maturity Variance (Color Gradient):</a:t>
            </a:r>
            <a:endParaRPr b="1" sz="2600">
              <a:solidFill>
                <a:schemeClr val="dk1"/>
              </a:solidFill>
              <a:latin typeface="Oswald"/>
              <a:ea typeface="Oswald"/>
              <a:cs typeface="Oswald"/>
              <a:sym typeface="Oswald"/>
            </a:endParaRPr>
          </a:p>
          <a:p>
            <a:pPr indent="-393700" lvl="1" marL="914400" rtl="0" algn="l">
              <a:lnSpc>
                <a:spcPct val="115000"/>
              </a:lnSpc>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High Maturity Markets (Green):</a:t>
            </a:r>
            <a:r>
              <a:rPr lang="en-US" sz="2600">
                <a:solidFill>
                  <a:schemeClr val="dk1"/>
                </a:solidFill>
                <a:latin typeface="Oswald"/>
                <a:ea typeface="Oswald"/>
                <a:cs typeface="Oswald"/>
                <a:sym typeface="Oswald"/>
              </a:rPr>
              <a:t> Higher sum of company AI maturity scores (scaling up to 849.5) are heavily concentrated in Northern &amp; Western Europe (notably Scandinavia).</a:t>
            </a:r>
            <a:endParaRPr sz="2600">
              <a:solidFill>
                <a:schemeClr val="dk1"/>
              </a:solidFill>
              <a:latin typeface="Oswald"/>
              <a:ea typeface="Oswald"/>
              <a:cs typeface="Oswald"/>
              <a:sym typeface="Oswald"/>
            </a:endParaRPr>
          </a:p>
          <a:p>
            <a:pPr indent="-393700" lvl="1" marL="914400" rtl="0" algn="l">
              <a:lnSpc>
                <a:spcPct val="115000"/>
              </a:lnSpc>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Emerging/Lower Maturity Markets (Red/Orange):</a:t>
            </a:r>
            <a:r>
              <a:rPr lang="en-US" sz="2600">
                <a:solidFill>
                  <a:schemeClr val="dk1"/>
                </a:solidFill>
                <a:latin typeface="Oswald"/>
                <a:ea typeface="Oswald"/>
                <a:cs typeface="Oswald"/>
                <a:sym typeface="Oswald"/>
              </a:rPr>
              <a:t> Markets with lower maturity scores (starting at 412.6) dominate regions across Southern Europe, parts of Asia, Africa, and South America.</a:t>
            </a:r>
            <a:endParaRPr sz="2600">
              <a:solidFill>
                <a:schemeClr val="dk1"/>
              </a:solidFill>
              <a:latin typeface="Oswald"/>
              <a:ea typeface="Oswald"/>
              <a:cs typeface="Oswald"/>
              <a:sym typeface="Oswald"/>
            </a:endParaRPr>
          </a:p>
          <a:p>
            <a:pPr indent="-393700" lvl="0" marL="457200" rtl="0" algn="l">
              <a:lnSpc>
                <a:spcPct val="115000"/>
              </a:lnSpc>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Investment vs. Maturity Decoupling:</a:t>
            </a:r>
            <a:r>
              <a:rPr lang="en-US" sz="2600">
                <a:solidFill>
                  <a:schemeClr val="dk1"/>
                </a:solidFill>
                <a:latin typeface="Oswald"/>
                <a:ea typeface="Oswald"/>
                <a:cs typeface="Oswald"/>
                <a:sym typeface="Oswald"/>
              </a:rPr>
              <a:t> Large investment volumes (larger bubbles) do not always align with high AI maturity (green dots). Several emerging markets feature sizable investment bubbles despite displaying lower overall maturity scores (red/orange dots).</a:t>
            </a:r>
            <a:endParaRPr sz="2600">
              <a:solidFill>
                <a:schemeClr val="dk1"/>
              </a:solidFill>
              <a:latin typeface="Oswald"/>
              <a:ea typeface="Oswald"/>
              <a:cs typeface="Oswald"/>
              <a:sym typeface="Oswa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8" name="Shape 138"/>
        <p:cNvGrpSpPr/>
        <p:nvPr/>
      </p:nvGrpSpPr>
      <p:grpSpPr>
        <a:xfrm>
          <a:off x="0" y="0"/>
          <a:ext cx="0" cy="0"/>
          <a:chOff x="0" y="0"/>
          <a:chExt cx="0" cy="0"/>
        </a:xfrm>
      </p:grpSpPr>
      <p:pic>
        <p:nvPicPr>
          <p:cNvPr descr="5. AI Specialization &amp;amp; Industry Revenue Treemap" id="139" name="Google Shape;139;p7"/>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3" name="Shape 143"/>
        <p:cNvGrpSpPr/>
        <p:nvPr/>
      </p:nvGrpSpPr>
      <p:grpSpPr>
        <a:xfrm>
          <a:off x="0" y="0"/>
          <a:ext cx="0" cy="0"/>
          <a:chOff x="0" y="0"/>
          <a:chExt cx="0" cy="0"/>
        </a:xfrm>
      </p:grpSpPr>
      <p:sp>
        <p:nvSpPr>
          <p:cNvPr id="144" name="Google Shape;144;h3130402f1d16313a_0_19"/>
          <p:cNvSpPr txBox="1"/>
          <p:nvPr/>
        </p:nvSpPr>
        <p:spPr>
          <a:xfrm>
            <a:off x="0" y="0"/>
            <a:ext cx="12192000" cy="7028100"/>
          </a:xfrm>
          <a:prstGeom prst="rect">
            <a:avLst/>
          </a:prstGeom>
          <a:noFill/>
          <a:ln>
            <a:noFill/>
          </a:ln>
        </p:spPr>
        <p:txBody>
          <a:bodyPr anchorCtr="0" anchor="t" bIns="91425" lIns="91425" spcFirstLastPara="1" rIns="91425" wrap="square" tIns="91425">
            <a:spAutoFit/>
          </a:bodyPr>
          <a:lstStyle/>
          <a:p>
            <a:pPr indent="-393700" lvl="0" marL="457200" rtl="0" algn="l">
              <a:lnSpc>
                <a:spcPct val="115000"/>
              </a:lnSpc>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Job Volume Distribution (Tile Size):</a:t>
            </a:r>
            <a:r>
              <a:rPr lang="en-US" sz="2600">
                <a:solidFill>
                  <a:schemeClr val="dk1"/>
                </a:solidFill>
                <a:latin typeface="Oswald"/>
                <a:ea typeface="Oswald"/>
                <a:cs typeface="Oswald"/>
                <a:sym typeface="Oswald"/>
              </a:rPr>
              <a:t> Demand for AI talent is highly fragmented, with individual specialization/industry segments scaling up to 381 job openings per block.</a:t>
            </a:r>
            <a:endParaRPr sz="2600">
              <a:solidFill>
                <a:schemeClr val="dk1"/>
              </a:solidFill>
              <a:latin typeface="Oswald"/>
              <a:ea typeface="Oswald"/>
              <a:cs typeface="Oswald"/>
              <a:sym typeface="Oswald"/>
            </a:endParaRPr>
          </a:p>
          <a:p>
            <a:pPr indent="-393700" lvl="0" marL="457200" rtl="0" algn="l">
              <a:lnSpc>
                <a:spcPct val="115000"/>
              </a:lnSpc>
              <a:spcBef>
                <a:spcPts val="0"/>
              </a:spcBef>
              <a:spcAft>
                <a:spcPts val="0"/>
              </a:spcAft>
              <a:buClr>
                <a:schemeClr val="dk1"/>
              </a:buClr>
              <a:buSzPts val="2600"/>
              <a:buFont typeface="Oswald"/>
              <a:buChar char="●"/>
            </a:pPr>
            <a:r>
              <a:rPr b="1" lang="en-US" sz="2600">
                <a:solidFill>
                  <a:schemeClr val="dk1"/>
                </a:solidFill>
                <a:latin typeface="Oswald"/>
                <a:ea typeface="Oswald"/>
                <a:cs typeface="Oswald"/>
                <a:sym typeface="Oswald"/>
              </a:rPr>
              <a:t>Wide Base Salary Range (Color Gradient):</a:t>
            </a:r>
            <a:endParaRPr b="1" sz="2600">
              <a:solidFill>
                <a:schemeClr val="dk1"/>
              </a:solidFill>
              <a:latin typeface="Oswald"/>
              <a:ea typeface="Oswald"/>
              <a:cs typeface="Oswald"/>
              <a:sym typeface="Oswald"/>
            </a:endParaRPr>
          </a:p>
          <a:p>
            <a:pPr indent="-393700" lvl="1" marL="914400" rtl="0" algn="l">
              <a:lnSpc>
                <a:spcPct val="115000"/>
              </a:lnSpc>
              <a:spcBef>
                <a:spcPts val="0"/>
              </a:spcBef>
              <a:spcAft>
                <a:spcPts val="0"/>
              </a:spcAft>
              <a:buClr>
                <a:schemeClr val="dk1"/>
              </a:buClr>
              <a:buSzPts val="2600"/>
              <a:buFont typeface="Oswald"/>
              <a:buChar char="○"/>
            </a:pPr>
            <a:r>
              <a:rPr lang="en-US" sz="2600">
                <a:solidFill>
                  <a:schemeClr val="dk1"/>
                </a:solidFill>
                <a:latin typeface="Oswald"/>
                <a:ea typeface="Oswald"/>
                <a:cs typeface="Oswald"/>
                <a:sym typeface="Oswald"/>
              </a:rPr>
              <a:t>Average compensation across industry and specialization pairs ranges from $103,810 USD (light yellow/olive) to $202,746 USD (dark forest green).</a:t>
            </a:r>
            <a:endParaRPr sz="2600">
              <a:solidFill>
                <a:schemeClr val="dk1"/>
              </a:solidFill>
              <a:latin typeface="Oswald"/>
              <a:ea typeface="Oswald"/>
              <a:cs typeface="Oswald"/>
              <a:sym typeface="Oswald"/>
            </a:endParaRPr>
          </a:p>
          <a:p>
            <a:pPr indent="-393700" lvl="1" marL="914400" rtl="0" algn="l">
              <a:lnSpc>
                <a:spcPct val="115000"/>
              </a:lnSpc>
              <a:spcBef>
                <a:spcPts val="0"/>
              </a:spcBef>
              <a:spcAft>
                <a:spcPts val="0"/>
              </a:spcAft>
              <a:buClr>
                <a:schemeClr val="dk1"/>
              </a:buClr>
              <a:buSzPts val="2600"/>
              <a:buFont typeface="Oswald"/>
              <a:buChar char="○"/>
            </a:pPr>
            <a:r>
              <a:rPr lang="en-US" sz="2600">
                <a:solidFill>
                  <a:schemeClr val="dk1"/>
                </a:solidFill>
                <a:latin typeface="Oswald"/>
                <a:ea typeface="Oswald"/>
                <a:cs typeface="Oswald"/>
                <a:sym typeface="Oswald"/>
              </a:rPr>
              <a:t>Higher salaries (darker green tiles) are spread across both high-volume segments and niche roles.</a:t>
            </a:r>
            <a:endParaRPr sz="2600">
              <a:solidFill>
                <a:schemeClr val="dk1"/>
              </a:solidFill>
              <a:latin typeface="Oswald"/>
              <a:ea typeface="Oswald"/>
              <a:cs typeface="Oswald"/>
              <a:sym typeface="Oswald"/>
            </a:endParaRPr>
          </a:p>
          <a:p>
            <a:pPr indent="-393700" lvl="0" marL="457200" rtl="0" algn="l">
              <a:lnSpc>
                <a:spcPct val="115000"/>
              </a:lnSpc>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High-Volume, High-Pay Hotspots:</a:t>
            </a:r>
            <a:r>
              <a:rPr lang="en-US" sz="2600">
                <a:solidFill>
                  <a:schemeClr val="dk1"/>
                </a:solidFill>
                <a:latin typeface="Oswald"/>
                <a:ea typeface="Oswald"/>
                <a:cs typeface="Oswald"/>
                <a:sym typeface="Oswald"/>
              </a:rPr>
              <a:t> Top-tier segments combine high job demand (300+ openings) with premium compensation bands (dark green hues), reaching peak volumes like 381, 371, and 366 openings.</a:t>
            </a:r>
            <a:endParaRPr sz="2600">
              <a:solidFill>
                <a:schemeClr val="dk1"/>
              </a:solidFill>
              <a:latin typeface="Oswald"/>
              <a:ea typeface="Oswald"/>
              <a:cs typeface="Oswald"/>
              <a:sym typeface="Oswald"/>
            </a:endParaRPr>
          </a:p>
          <a:p>
            <a:pPr indent="-393700" lvl="0" marL="457200" rtl="0" algn="l">
              <a:lnSpc>
                <a:spcPct val="115000"/>
              </a:lnSpc>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Low-Volume, Premium Niche Segments:</a:t>
            </a:r>
            <a:r>
              <a:rPr lang="en-US" sz="2600">
                <a:solidFill>
                  <a:schemeClr val="dk1"/>
                </a:solidFill>
                <a:latin typeface="Oswald"/>
                <a:ea typeface="Oswald"/>
                <a:cs typeface="Oswald"/>
                <a:sym typeface="Oswald"/>
              </a:rPr>
              <a:t> Several smaller tiles display dark green shading, showing that specific specialized skill sets command top-tier compensation (~$200K USD) despite lower total hiring demand.</a:t>
            </a:r>
            <a:endParaRPr sz="2600">
              <a:solidFill>
                <a:schemeClr val="dk1"/>
              </a:solidFill>
              <a:latin typeface="Oswald"/>
              <a:ea typeface="Oswald"/>
              <a:cs typeface="Oswald"/>
              <a:sym typeface="Oswald"/>
            </a:endParaRPr>
          </a:p>
          <a:p>
            <a:pPr indent="-393700" lvl="0" marL="457200" rtl="0" algn="l">
              <a:lnSpc>
                <a:spcPct val="115000"/>
              </a:lnSpc>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Entry/Lower Pay Segments:</a:t>
            </a:r>
            <a:r>
              <a:rPr lang="en-US" sz="2600">
                <a:solidFill>
                  <a:schemeClr val="dk1"/>
                </a:solidFill>
                <a:latin typeface="Oswald"/>
                <a:ea typeface="Oswald"/>
                <a:cs typeface="Oswald"/>
                <a:sym typeface="Oswald"/>
              </a:rPr>
              <a:t> Lighter yellow-green blocks highlight segments where average pay drops closer to the $103K–$130K USD baseline (e.g., blocks labeled 127, 133, 134, 137).</a:t>
            </a:r>
            <a:endParaRPr sz="2600">
              <a:solidFill>
                <a:schemeClr val="dk1"/>
              </a:solidFill>
              <a:latin typeface="Oswald"/>
              <a:ea typeface="Oswald"/>
              <a:cs typeface="Oswald"/>
              <a:sym typeface="Oswa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8" name="Shape 148"/>
        <p:cNvGrpSpPr/>
        <p:nvPr/>
      </p:nvGrpSpPr>
      <p:grpSpPr>
        <a:xfrm>
          <a:off x="0" y="0"/>
          <a:ext cx="0" cy="0"/>
          <a:chOff x="0" y="0"/>
          <a:chExt cx="0" cy="0"/>
        </a:xfrm>
      </p:grpSpPr>
      <p:pic>
        <p:nvPicPr>
          <p:cNvPr descr="Industry, Market &amp;amp; Investment Analysis" id="149" name="Google Shape;149;p8"/>
          <p:cNvPicPr preferRelativeResize="0"/>
          <p:nvPr/>
        </p:nvPicPr>
        <p:blipFill rotWithShape="1">
          <a:blip r:embed="rId3">
            <a:alphaModFix/>
          </a:blip>
          <a:srcRect b="0" l="0" r="0" t="0"/>
          <a:stretch/>
        </p:blipFill>
        <p:spPr>
          <a:xfrm>
            <a:off x="1809750" y="-79475"/>
            <a:ext cx="8572500" cy="7029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3" name="Shape 153"/>
        <p:cNvGrpSpPr/>
        <p:nvPr/>
      </p:nvGrpSpPr>
      <p:grpSpPr>
        <a:xfrm>
          <a:off x="0" y="0"/>
          <a:ext cx="0" cy="0"/>
          <a:chOff x="0" y="0"/>
          <a:chExt cx="0" cy="0"/>
        </a:xfrm>
      </p:grpSpPr>
      <p:sp>
        <p:nvSpPr>
          <p:cNvPr id="154" name="Google Shape;154;h3130402f1d16313a_0_28"/>
          <p:cNvSpPr txBox="1"/>
          <p:nvPr/>
        </p:nvSpPr>
        <p:spPr>
          <a:xfrm>
            <a:off x="0" y="0"/>
            <a:ext cx="12192000" cy="6645600"/>
          </a:xfrm>
          <a:prstGeom prst="rect">
            <a:avLst/>
          </a:prstGeom>
          <a:noFill/>
          <a:ln>
            <a:noFill/>
          </a:ln>
        </p:spPr>
        <p:txBody>
          <a:bodyPr anchorCtr="0" anchor="t" bIns="91425" lIns="91425" spcFirstLastPara="1" rIns="91425" wrap="square" tIns="91425">
            <a:spAutoFit/>
          </a:bodyPr>
          <a:lstStyle/>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Strategic Capital vs. Skill Sourcing Alignment:</a:t>
            </a:r>
            <a:r>
              <a:rPr lang="en-US" sz="2300">
                <a:solidFill>
                  <a:schemeClr val="dk1"/>
                </a:solidFill>
                <a:latin typeface="Oswald"/>
                <a:ea typeface="Oswald"/>
                <a:cs typeface="Oswald"/>
                <a:sym typeface="Oswald"/>
              </a:rPr>
              <a:t> Global AI growth is driven by a dual-axis strategy—capital deployment is concentrated in key geographical growth markets across Europe and Asia, while operational recruitment requires balancing high-volume mainstream roles against premium-priced niche specializations.</a:t>
            </a:r>
            <a:endParaRPr sz="2300">
              <a:solidFill>
                <a:schemeClr val="dk1"/>
              </a:solidFill>
              <a:latin typeface="Oswald"/>
              <a:ea typeface="Oswald"/>
              <a:cs typeface="Oswald"/>
              <a:sym typeface="Oswald"/>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Investment Dispersion vs. Market Maturity:</a:t>
            </a:r>
            <a:r>
              <a:rPr lang="en-US" sz="2300">
                <a:solidFill>
                  <a:schemeClr val="dk1"/>
                </a:solidFill>
                <a:latin typeface="Oswald"/>
                <a:ea typeface="Oswald"/>
                <a:cs typeface="Oswald"/>
                <a:sym typeface="Oswald"/>
              </a:rPr>
              <a:t> Corporate investment volumes (ranging up to $37.37B per country) do not automatically equal market maturity. Highly mature ecosystems (e.g., Scandinavia reaching maturity scores of 849.5) serve as primary hubs for specialized talent, whereas high-investment, lower-maturity regions (scoring near 412.6) indicate active expansion markets requiring rapid talent acquisition.</a:t>
            </a:r>
            <a:endParaRPr sz="2300">
              <a:solidFill>
                <a:schemeClr val="dk1"/>
              </a:solidFill>
              <a:latin typeface="Oswald"/>
              <a:ea typeface="Oswald"/>
              <a:cs typeface="Oswald"/>
              <a:sym typeface="Oswald"/>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Specialization-Driven Compensation Structure:</a:t>
            </a:r>
            <a:r>
              <a:rPr lang="en-US" sz="2300">
                <a:solidFill>
                  <a:schemeClr val="dk1"/>
                </a:solidFill>
                <a:latin typeface="Oswald"/>
                <a:ea typeface="Oswald"/>
                <a:cs typeface="Oswald"/>
                <a:sym typeface="Oswald"/>
              </a:rPr>
              <a:t> Within active hiring pipelines, talent demand spans up to 381 openings per segment. However, salary ranges (spanning $103,810 to $202,746 USD) are driven by skill specialization rather than sheer posting volume. Both high-volume core roles and low-volume niche skill sets command top-tier ~$200K compensation.</a:t>
            </a:r>
            <a:endParaRPr sz="2300">
              <a:solidFill>
                <a:schemeClr val="dk1"/>
              </a:solidFill>
              <a:latin typeface="Oswald"/>
              <a:ea typeface="Oswald"/>
              <a:cs typeface="Oswald"/>
              <a:sym typeface="Oswald"/>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Optimized Global Expansion Framework:</a:t>
            </a:r>
            <a:r>
              <a:rPr lang="en-US" sz="2300">
                <a:solidFill>
                  <a:schemeClr val="dk1"/>
                </a:solidFill>
                <a:latin typeface="Oswald"/>
                <a:ea typeface="Oswald"/>
                <a:cs typeface="Oswald"/>
                <a:sym typeface="Oswald"/>
              </a:rPr>
              <a:t> Organizations expanding globally must pair geographical market selection (capital vs. maturity) with tailored talent acquisition strategies—allocating premium budgets to scarce technical skill sets while scaling entry and mid-tier roles cost-effectively in developing markets.</a:t>
            </a:r>
            <a:endParaRPr sz="2300">
              <a:solidFill>
                <a:schemeClr val="dk1"/>
              </a:solidFill>
              <a:latin typeface="Oswald"/>
              <a:ea typeface="Oswald"/>
              <a:cs typeface="Oswald"/>
              <a:sym typeface="Oswa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8" name="Shape 158"/>
        <p:cNvGrpSpPr/>
        <p:nvPr/>
      </p:nvGrpSpPr>
      <p:grpSpPr>
        <a:xfrm>
          <a:off x="0" y="0"/>
          <a:ext cx="0" cy="0"/>
          <a:chOff x="0" y="0"/>
          <a:chExt cx="0" cy="0"/>
        </a:xfrm>
      </p:grpSpPr>
      <p:pic>
        <p:nvPicPr>
          <p:cNvPr descr="6. Hiring Difficulty vs. Competition Index (4-Quadrant Scatter Plot)" id="159" name="Google Shape;159;p9"/>
          <p:cNvPicPr preferRelativeResize="0"/>
          <p:nvPr/>
        </p:nvPicPr>
        <p:blipFill rotWithShape="1">
          <a:blip r:embed="rId3">
            <a:alphaModFix/>
          </a:blip>
          <a:srcRect b="0" l="0" r="0" t="0"/>
          <a:stretch/>
        </p:blipFill>
        <p:spPr>
          <a:xfrm>
            <a:off x="0" y="23121"/>
            <a:ext cx="12192002" cy="681175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3" name="Shape 163"/>
        <p:cNvGrpSpPr/>
        <p:nvPr/>
      </p:nvGrpSpPr>
      <p:grpSpPr>
        <a:xfrm>
          <a:off x="0" y="0"/>
          <a:ext cx="0" cy="0"/>
          <a:chOff x="0" y="0"/>
          <a:chExt cx="0" cy="0"/>
        </a:xfrm>
      </p:grpSpPr>
      <p:sp>
        <p:nvSpPr>
          <p:cNvPr id="164" name="Google Shape;164;h3130402f1d16313a_0_35"/>
          <p:cNvSpPr txBox="1"/>
          <p:nvPr/>
        </p:nvSpPr>
        <p:spPr>
          <a:xfrm>
            <a:off x="0" y="0"/>
            <a:ext cx="12192000" cy="6537000"/>
          </a:xfrm>
          <a:prstGeom prst="rect">
            <a:avLst/>
          </a:prstGeom>
          <a:noFill/>
          <a:ln>
            <a:noFill/>
          </a:ln>
        </p:spPr>
        <p:txBody>
          <a:bodyPr anchorCtr="0" anchor="t" bIns="91425" lIns="91425" spcFirstLastPara="1" rIns="91425" wrap="square" tIns="91425">
            <a:spAutoFit/>
          </a:bodyPr>
          <a:lstStyle/>
          <a:p>
            <a:pPr indent="-387350" lvl="0" marL="457200" rtl="0" algn="l">
              <a:lnSpc>
                <a:spcPct val="115000"/>
              </a:lnSpc>
              <a:spcBef>
                <a:spcPts val="0"/>
              </a:spcBef>
              <a:spcAft>
                <a:spcPts val="0"/>
              </a:spcAft>
              <a:buClr>
                <a:schemeClr val="dk1"/>
              </a:buClr>
              <a:buSzPts val="2500"/>
              <a:buFont typeface="Calibri"/>
              <a:buChar char="●"/>
            </a:pPr>
            <a:r>
              <a:rPr b="1" lang="en-US" sz="2400">
                <a:solidFill>
                  <a:schemeClr val="dk1"/>
                </a:solidFill>
                <a:latin typeface="Oswald"/>
                <a:ea typeface="Oswald"/>
                <a:cs typeface="Oswald"/>
                <a:sym typeface="Oswald"/>
              </a:rPr>
              <a:t>Clear 4-Quadrant Market Segmentation:</a:t>
            </a:r>
            <a:r>
              <a:rPr lang="en-US" sz="2400">
                <a:solidFill>
                  <a:schemeClr val="dk1"/>
                </a:solidFill>
                <a:latin typeface="Oswald"/>
                <a:ea typeface="Oswald"/>
                <a:cs typeface="Oswald"/>
                <a:sym typeface="Oswald"/>
              </a:rPr>
              <a:t> The chart divides AI roles along two axes—Competition Level / Applicants (horizontal, median at ~36.8K) and Hiring Difficulty (vertical, median at ~880).</a:t>
            </a:r>
            <a:endParaRPr sz="2400">
              <a:solidFill>
                <a:schemeClr val="dk1"/>
              </a:solidFill>
              <a:latin typeface="Oswald"/>
              <a:ea typeface="Oswald"/>
              <a:cs typeface="Oswald"/>
              <a:sym typeface="Oswald"/>
            </a:endParaRPr>
          </a:p>
          <a:p>
            <a:pPr indent="-387350" lvl="0" marL="457200" rtl="0" algn="l">
              <a:lnSpc>
                <a:spcPct val="115000"/>
              </a:lnSpc>
              <a:spcBef>
                <a:spcPts val="0"/>
              </a:spcBef>
              <a:spcAft>
                <a:spcPts val="0"/>
              </a:spcAft>
              <a:buClr>
                <a:schemeClr val="dk1"/>
              </a:buClr>
              <a:buSzPts val="2500"/>
              <a:buFont typeface="Calibri"/>
              <a:buChar char="●"/>
            </a:pPr>
            <a:r>
              <a:rPr b="1" lang="en-US" sz="2400">
                <a:solidFill>
                  <a:schemeClr val="dk1"/>
                </a:solidFill>
                <a:latin typeface="Oswald"/>
                <a:ea typeface="Oswald"/>
                <a:cs typeface="Oswald"/>
                <a:sym typeface="Oswald"/>
              </a:rPr>
              <a:t>High Competition &amp; High Hiring Difficulty (Top-Right Quadrant): </a:t>
            </a:r>
            <a:r>
              <a:rPr lang="en-US" sz="2400">
                <a:solidFill>
                  <a:schemeClr val="dk1"/>
                </a:solidFill>
                <a:latin typeface="Oswald"/>
                <a:ea typeface="Oswald"/>
                <a:cs typeface="Oswald"/>
                <a:sym typeface="Oswald"/>
              </a:rPr>
              <a:t>Roles like Autonomous Vehicle Engineer, AI Trainer, Prompt Engineer, PhD Research Fellow, and AI Infrastructure Engineer exhibit both high applicant competition (&gt;37K) and extreme hiring difficulty index scores (950–1000+). </a:t>
            </a:r>
            <a:endParaRPr sz="2400">
              <a:solidFill>
                <a:schemeClr val="dk1"/>
              </a:solidFill>
              <a:latin typeface="Oswald"/>
              <a:ea typeface="Oswald"/>
              <a:cs typeface="Oswald"/>
              <a:sym typeface="Oswald"/>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Low Competition &amp; High Hiring Difficulty (Top-Left Quadrant):</a:t>
            </a:r>
            <a:r>
              <a:rPr lang="en-US" sz="2400">
                <a:solidFill>
                  <a:schemeClr val="dk1"/>
                </a:solidFill>
                <a:latin typeface="Oswald"/>
                <a:ea typeface="Oswald"/>
                <a:cs typeface="Oswald"/>
                <a:sym typeface="Oswald"/>
              </a:rPr>
              <a:t> Data Engineer sits near this quadrant boundary with relatively lower applicant counts (~36K) but high hiring difficulty (~930).</a:t>
            </a:r>
            <a:endParaRPr sz="2400">
              <a:solidFill>
                <a:schemeClr val="dk1"/>
              </a:solidFill>
              <a:latin typeface="Oswald"/>
              <a:ea typeface="Oswald"/>
              <a:cs typeface="Oswald"/>
              <a:sym typeface="Oswald"/>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Low Competition &amp; Low Hiring Difficulty (Bottom-Left Quadrant):</a:t>
            </a:r>
            <a:r>
              <a:rPr lang="en-US" sz="2400">
                <a:solidFill>
                  <a:schemeClr val="dk1"/>
                </a:solidFill>
                <a:latin typeface="Oswald"/>
                <a:ea typeface="Oswald"/>
                <a:cs typeface="Oswald"/>
                <a:sym typeface="Oswald"/>
              </a:rPr>
              <a:t> Roles including Data Scientist, Generative AI Engineer, and AI Operations Manager reflect lower competition (24K–29K applicants) and significantly lower hiring difficulty (650–720). </a:t>
            </a:r>
            <a:endParaRPr sz="2400">
              <a:solidFill>
                <a:schemeClr val="dk1"/>
              </a:solidFill>
              <a:latin typeface="Oswald"/>
              <a:ea typeface="Oswald"/>
              <a:cs typeface="Oswald"/>
              <a:sym typeface="Oswald"/>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Moderate/High Competition &amp; Lower Difficulty (Bottom-Right Quadrant):</a:t>
            </a:r>
            <a:r>
              <a:rPr lang="en-US" sz="2400">
                <a:solidFill>
                  <a:schemeClr val="dk1"/>
                </a:solidFill>
                <a:latin typeface="Oswald"/>
                <a:ea typeface="Oswald"/>
                <a:cs typeface="Oswald"/>
                <a:sym typeface="Oswald"/>
              </a:rPr>
              <a:t> Business Intelligence Analyst, AI Research Scientist, and Machine Learning Engineer show moderate-to-high competition (33K–38K applicants) with hiring difficulty index scores below the median (&lt;880). </a:t>
            </a:r>
            <a:endParaRPr sz="2400">
              <a:solidFill>
                <a:schemeClr val="dk1"/>
              </a:solidFill>
              <a:latin typeface="Oswald"/>
              <a:ea typeface="Oswald"/>
              <a:cs typeface="Oswald"/>
              <a:sym typeface="Oswald"/>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Job Openings Demand (Bubble Sizing):</a:t>
            </a:r>
            <a:r>
              <a:rPr lang="en-US" sz="2400">
                <a:solidFill>
                  <a:schemeClr val="dk1"/>
                </a:solidFill>
                <a:latin typeface="Oswald"/>
                <a:ea typeface="Oswald"/>
                <a:cs typeface="Oswald"/>
                <a:sym typeface="Oswald"/>
              </a:rPr>
              <a:t> Total job openings across roles range from 1,046 to 1,687, showing steady hiring volume across both niche high-difficulty roles and lower-difficulty positions. </a:t>
            </a:r>
            <a:endParaRPr sz="2400">
              <a:solidFill>
                <a:schemeClr val="dk1"/>
              </a:solidFill>
              <a:latin typeface="Oswald"/>
              <a:ea typeface="Oswald"/>
              <a:cs typeface="Oswald"/>
              <a:sym typeface="Oswa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8" name="Shape 168"/>
        <p:cNvGrpSpPr/>
        <p:nvPr/>
      </p:nvGrpSpPr>
      <p:grpSpPr>
        <a:xfrm>
          <a:off x="0" y="0"/>
          <a:ext cx="0" cy="0"/>
          <a:chOff x="0" y="0"/>
          <a:chExt cx="0" cy="0"/>
        </a:xfrm>
      </p:grpSpPr>
      <p:pic>
        <p:nvPicPr>
          <p:cNvPr descr="7. Top 30 Required Skills &amp;amp; Certifications Matrix (Heatmap)" id="169" name="Google Shape;169;p10"/>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3" name="Shape 173"/>
        <p:cNvGrpSpPr/>
        <p:nvPr/>
      </p:nvGrpSpPr>
      <p:grpSpPr>
        <a:xfrm>
          <a:off x="0" y="0"/>
          <a:ext cx="0" cy="0"/>
          <a:chOff x="0" y="0"/>
          <a:chExt cx="0" cy="0"/>
        </a:xfrm>
      </p:grpSpPr>
      <p:sp>
        <p:nvSpPr>
          <p:cNvPr id="174" name="Google Shape;174;h3130402f1d16313a_0_40"/>
          <p:cNvSpPr txBox="1"/>
          <p:nvPr/>
        </p:nvSpPr>
        <p:spPr>
          <a:xfrm>
            <a:off x="0" y="0"/>
            <a:ext cx="12192000" cy="63033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chemeClr val="dk1"/>
              </a:buClr>
              <a:buSzPts val="2500"/>
              <a:buFont typeface="Calibri"/>
              <a:buChar char="●"/>
            </a:pPr>
            <a:r>
              <a:rPr b="1" lang="en-US" sz="2500">
                <a:solidFill>
                  <a:schemeClr val="dk1"/>
                </a:solidFill>
                <a:latin typeface="Oswald"/>
                <a:ea typeface="Oswald"/>
                <a:cs typeface="Oswald"/>
                <a:sym typeface="Oswald"/>
              </a:rPr>
              <a:t>Highest Demand Skill-Certification Hubs (Darkest Green):</a:t>
            </a:r>
            <a:r>
              <a:rPr lang="en-US" sz="2500">
                <a:solidFill>
                  <a:schemeClr val="dk1"/>
                </a:solidFill>
                <a:latin typeface="Oswald"/>
                <a:ea typeface="Oswald"/>
                <a:cs typeface="Oswald"/>
                <a:sym typeface="Oswald"/>
              </a:rPr>
              <a:t> </a:t>
            </a:r>
            <a:endParaRPr sz="2500">
              <a:solidFill>
                <a:schemeClr val="dk1"/>
              </a:solidFill>
              <a:latin typeface="Oswald"/>
              <a:ea typeface="Oswald"/>
              <a:cs typeface="Oswald"/>
              <a:sym typeface="Oswald"/>
            </a:endParaRPr>
          </a:p>
          <a:p>
            <a:pPr indent="-387350" lvl="1" marL="914400" rtl="0" algn="l">
              <a:lnSpc>
                <a:spcPct val="115000"/>
              </a:lnSpc>
              <a:spcBef>
                <a:spcPts val="0"/>
              </a:spcBef>
              <a:spcAft>
                <a:spcPts val="0"/>
              </a:spcAft>
              <a:buClr>
                <a:schemeClr val="dk1"/>
              </a:buClr>
              <a:buSzPts val="2500"/>
              <a:buFont typeface="Calibri"/>
              <a:buChar char="○"/>
            </a:pPr>
            <a:r>
              <a:rPr b="1" lang="en-US" sz="2500">
                <a:solidFill>
                  <a:schemeClr val="dk1"/>
                </a:solidFill>
                <a:latin typeface="Oswald"/>
                <a:ea typeface="Oswald"/>
                <a:cs typeface="Oswald"/>
                <a:sym typeface="Oswald"/>
              </a:rPr>
              <a:t>Research, PyTorch, Deep L... + Multiple Certifications:</a:t>
            </a:r>
            <a:r>
              <a:rPr lang="en-US" sz="2500">
                <a:solidFill>
                  <a:schemeClr val="dk1"/>
                </a:solidFill>
                <a:latin typeface="Oswald"/>
                <a:ea typeface="Oswald"/>
                <a:cs typeface="Oswald"/>
                <a:sym typeface="Oswald"/>
              </a:rPr>
              <a:t> Represents the single highest demand concentration in the matrix with </a:t>
            </a:r>
            <a:r>
              <a:rPr b="1" lang="en-US" sz="2500">
                <a:solidFill>
                  <a:schemeClr val="dk1"/>
                </a:solidFill>
                <a:latin typeface="Oswald"/>
                <a:ea typeface="Oswald"/>
                <a:cs typeface="Oswald"/>
                <a:sym typeface="Oswald"/>
              </a:rPr>
              <a:t>248 job openings</a:t>
            </a:r>
            <a:r>
              <a:rPr lang="en-US" sz="2500">
                <a:solidFill>
                  <a:schemeClr val="dk1"/>
                </a:solidFill>
                <a:latin typeface="Oswald"/>
                <a:ea typeface="Oswald"/>
                <a:cs typeface="Oswald"/>
                <a:sym typeface="Oswald"/>
              </a:rPr>
              <a:t>.</a:t>
            </a:r>
            <a:endParaRPr sz="2500">
              <a:solidFill>
                <a:schemeClr val="dk1"/>
              </a:solidFill>
              <a:latin typeface="Oswald"/>
              <a:ea typeface="Oswald"/>
              <a:cs typeface="Oswald"/>
              <a:sym typeface="Oswald"/>
            </a:endParaRPr>
          </a:p>
          <a:p>
            <a:pPr indent="-387350" lvl="1" marL="914400" rtl="0" algn="l">
              <a:lnSpc>
                <a:spcPct val="115000"/>
              </a:lnSpc>
              <a:spcBef>
                <a:spcPts val="0"/>
              </a:spcBef>
              <a:spcAft>
                <a:spcPts val="0"/>
              </a:spcAft>
              <a:buClr>
                <a:schemeClr val="dk1"/>
              </a:buClr>
              <a:buSzPts val="2500"/>
              <a:buFont typeface="Calibri"/>
              <a:buChar char="○"/>
            </a:pPr>
            <a:r>
              <a:rPr b="1" lang="en-US" sz="2500">
                <a:solidFill>
                  <a:schemeClr val="dk1"/>
                </a:solidFill>
                <a:latin typeface="Oswald"/>
                <a:ea typeface="Oswald"/>
                <a:cs typeface="Oswald"/>
                <a:sym typeface="Oswald"/>
              </a:rPr>
              <a:t>Research, Teaching, Deep ... + Google ML / DeepLearning.ai:</a:t>
            </a:r>
            <a:r>
              <a:rPr lang="en-US" sz="2500">
                <a:solidFill>
                  <a:schemeClr val="dk1"/>
                </a:solidFill>
                <a:latin typeface="Oswald"/>
                <a:ea typeface="Oswald"/>
                <a:cs typeface="Oswald"/>
                <a:sym typeface="Oswald"/>
              </a:rPr>
              <a:t> Generates intense demand clusters, reaching </a:t>
            </a:r>
            <a:r>
              <a:rPr b="1" lang="en-US" sz="2500">
                <a:solidFill>
                  <a:schemeClr val="dk1"/>
                </a:solidFill>
                <a:latin typeface="Oswald"/>
                <a:ea typeface="Oswald"/>
                <a:cs typeface="Oswald"/>
                <a:sym typeface="Oswald"/>
              </a:rPr>
              <a:t>225 job openings</a:t>
            </a:r>
            <a:r>
              <a:rPr lang="en-US" sz="2500">
                <a:solidFill>
                  <a:schemeClr val="dk1"/>
                </a:solidFill>
                <a:latin typeface="Oswald"/>
                <a:ea typeface="Oswald"/>
                <a:cs typeface="Oswald"/>
                <a:sym typeface="Oswald"/>
              </a:rPr>
              <a:t> (Google ML) and </a:t>
            </a:r>
            <a:r>
              <a:rPr b="1" lang="en-US" sz="2500">
                <a:solidFill>
                  <a:schemeClr val="dk1"/>
                </a:solidFill>
                <a:latin typeface="Oswald"/>
                <a:ea typeface="Oswald"/>
                <a:cs typeface="Oswald"/>
                <a:sym typeface="Oswald"/>
              </a:rPr>
              <a:t>214 job openings</a:t>
            </a:r>
            <a:r>
              <a:rPr lang="en-US" sz="2500">
                <a:solidFill>
                  <a:schemeClr val="dk1"/>
                </a:solidFill>
                <a:latin typeface="Oswald"/>
                <a:ea typeface="Oswald"/>
                <a:cs typeface="Oswald"/>
                <a:sym typeface="Oswald"/>
              </a:rPr>
              <a:t> (DeepLearning.ai).</a:t>
            </a:r>
            <a:endParaRPr sz="2500">
              <a:solidFill>
                <a:schemeClr val="dk1"/>
              </a:solidFill>
              <a:latin typeface="Oswald"/>
              <a:ea typeface="Oswald"/>
              <a:cs typeface="Oswald"/>
              <a:sym typeface="Oswald"/>
            </a:endParaRPr>
          </a:p>
          <a:p>
            <a:pPr indent="-387350" lvl="1" marL="914400" rtl="0" algn="l">
              <a:lnSpc>
                <a:spcPct val="115000"/>
              </a:lnSpc>
              <a:spcBef>
                <a:spcPts val="0"/>
              </a:spcBef>
              <a:spcAft>
                <a:spcPts val="0"/>
              </a:spcAft>
              <a:buClr>
                <a:schemeClr val="dk1"/>
              </a:buClr>
              <a:buSzPts val="2500"/>
              <a:buFont typeface="Calibri"/>
              <a:buChar char="○"/>
            </a:pPr>
            <a:r>
              <a:rPr b="1" lang="en-US" sz="2500">
                <a:solidFill>
                  <a:schemeClr val="dk1"/>
                </a:solidFill>
                <a:latin typeface="Oswald"/>
                <a:ea typeface="Oswald"/>
                <a:cs typeface="Oswald"/>
                <a:sym typeface="Oswald"/>
              </a:rPr>
              <a:t>ROS, AI/ML, Robotics, C++... + DeepLearning.ai:</a:t>
            </a:r>
            <a:r>
              <a:rPr lang="en-US" sz="2500">
                <a:solidFill>
                  <a:schemeClr val="dk1"/>
                </a:solidFill>
                <a:latin typeface="Oswald"/>
                <a:ea typeface="Oswald"/>
                <a:cs typeface="Oswald"/>
                <a:sym typeface="Oswald"/>
              </a:rPr>
              <a:t> Drives high specialized demand with </a:t>
            </a:r>
            <a:r>
              <a:rPr b="1" lang="en-US" sz="2500">
                <a:solidFill>
                  <a:schemeClr val="dk1"/>
                </a:solidFill>
                <a:latin typeface="Oswald"/>
                <a:ea typeface="Oswald"/>
                <a:cs typeface="Oswald"/>
                <a:sym typeface="Oswald"/>
              </a:rPr>
              <a:t>206 job openings</a:t>
            </a:r>
            <a:r>
              <a:rPr lang="en-US" sz="2500">
                <a:solidFill>
                  <a:schemeClr val="dk1"/>
                </a:solidFill>
                <a:latin typeface="Oswald"/>
                <a:ea typeface="Oswald"/>
                <a:cs typeface="Oswald"/>
                <a:sym typeface="Oswald"/>
              </a:rPr>
              <a:t>.</a:t>
            </a:r>
            <a:endParaRPr sz="2500">
              <a:solidFill>
                <a:schemeClr val="dk1"/>
              </a:solidFill>
              <a:latin typeface="Oswald"/>
              <a:ea typeface="Oswald"/>
              <a:cs typeface="Oswald"/>
              <a:sym typeface="Oswald"/>
            </a:endParaRPr>
          </a:p>
          <a:p>
            <a:pPr indent="-387350" lvl="0" marL="457200" rtl="0" algn="l">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Impact of "No Certification" Requirement:</a:t>
            </a:r>
            <a:r>
              <a:rPr lang="en-US" sz="2500">
                <a:solidFill>
                  <a:schemeClr val="dk1"/>
                </a:solidFill>
                <a:latin typeface="Oswald"/>
                <a:ea typeface="Oswald"/>
                <a:cs typeface="Oswald"/>
                <a:sym typeface="Oswald"/>
              </a:rPr>
              <a:t> High-volume hiring exists even without explicit certifications. Key examples include </a:t>
            </a:r>
            <a:r>
              <a:rPr b="1" lang="en-US" sz="2500">
                <a:solidFill>
                  <a:schemeClr val="dk1"/>
                </a:solidFill>
                <a:latin typeface="Oswald"/>
                <a:ea typeface="Oswald"/>
                <a:cs typeface="Oswald"/>
                <a:sym typeface="Oswald"/>
              </a:rPr>
              <a:t>Leadership, Big Data, Stat... (217 openings)</a:t>
            </a:r>
            <a:r>
              <a:rPr lang="en-US" sz="2500">
                <a:solidFill>
                  <a:schemeClr val="dk1"/>
                </a:solidFill>
                <a:latin typeface="Oswald"/>
                <a:ea typeface="Oswald"/>
                <a:cs typeface="Oswald"/>
                <a:sym typeface="Oswald"/>
              </a:rPr>
              <a:t>, </a:t>
            </a:r>
            <a:r>
              <a:rPr b="1" lang="en-US" sz="2500">
                <a:solidFill>
                  <a:schemeClr val="dk1"/>
                </a:solidFill>
                <a:latin typeface="Oswald"/>
                <a:ea typeface="Oswald"/>
                <a:cs typeface="Oswald"/>
                <a:sym typeface="Oswald"/>
              </a:rPr>
              <a:t>Statistics, Excel, Data Vis... (190 openings)</a:t>
            </a:r>
            <a:r>
              <a:rPr lang="en-US" sz="2500">
                <a:solidFill>
                  <a:schemeClr val="dk1"/>
                </a:solidFill>
                <a:latin typeface="Oswald"/>
                <a:ea typeface="Oswald"/>
                <a:cs typeface="Oswald"/>
                <a:sym typeface="Oswald"/>
              </a:rPr>
              <a:t>, and </a:t>
            </a:r>
            <a:r>
              <a:rPr b="1" lang="en-US" sz="2500">
                <a:solidFill>
                  <a:schemeClr val="dk1"/>
                </a:solidFill>
                <a:latin typeface="Oswald"/>
                <a:ea typeface="Oswald"/>
                <a:cs typeface="Oswald"/>
                <a:sym typeface="Oswald"/>
              </a:rPr>
              <a:t>BERT, PyTorch, NLTK, GPT... (161 openings)</a:t>
            </a:r>
            <a:r>
              <a:rPr lang="en-US" sz="2500">
                <a:solidFill>
                  <a:schemeClr val="dk1"/>
                </a:solidFill>
                <a:latin typeface="Oswald"/>
                <a:ea typeface="Oswald"/>
                <a:cs typeface="Oswald"/>
                <a:sym typeface="Oswald"/>
              </a:rPr>
              <a:t>. </a:t>
            </a:r>
            <a:endParaRPr sz="2500">
              <a:solidFill>
                <a:schemeClr val="dk1"/>
              </a:solidFill>
              <a:latin typeface="Oswald"/>
              <a:ea typeface="Oswald"/>
              <a:cs typeface="Oswald"/>
              <a:sym typeface="Oswald"/>
            </a:endParaRPr>
          </a:p>
          <a:p>
            <a:pPr indent="-387350" lvl="0" marL="457200" rtl="0" algn="l">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Core Technological Skills Distribution:</a:t>
            </a:r>
            <a:r>
              <a:rPr lang="en-US" sz="2500">
                <a:solidFill>
                  <a:schemeClr val="dk1"/>
                </a:solidFill>
                <a:latin typeface="Oswald"/>
                <a:ea typeface="Oswald"/>
                <a:cs typeface="Oswald"/>
                <a:sym typeface="Oswald"/>
              </a:rPr>
              <a:t> Skill sets combining </a:t>
            </a:r>
            <a:r>
              <a:rPr b="1" lang="en-US" sz="2500">
                <a:solidFill>
                  <a:schemeClr val="dk1"/>
                </a:solidFill>
                <a:latin typeface="Oswald"/>
                <a:ea typeface="Oswald"/>
                <a:cs typeface="Oswald"/>
                <a:sym typeface="Oswald"/>
              </a:rPr>
              <a:t>PyTorch, YOLO, CNN</a:t>
            </a:r>
            <a:r>
              <a:rPr lang="en-US" sz="2500">
                <a:solidFill>
                  <a:schemeClr val="dk1"/>
                </a:solidFill>
                <a:latin typeface="Oswald"/>
                <a:ea typeface="Oswald"/>
                <a:cs typeface="Oswald"/>
                <a:sym typeface="Oswald"/>
              </a:rPr>
              <a:t> and </a:t>
            </a:r>
            <a:r>
              <a:rPr b="1" lang="en-US" sz="2500">
                <a:solidFill>
                  <a:schemeClr val="dk1"/>
                </a:solidFill>
                <a:latin typeface="Oswald"/>
                <a:ea typeface="Oswald"/>
                <a:cs typeface="Oswald"/>
                <a:sym typeface="Oswald"/>
              </a:rPr>
              <a:t>PyTorch, AWS/GCP/Azure</a:t>
            </a:r>
            <a:r>
              <a:rPr lang="en-US" sz="2500">
                <a:solidFill>
                  <a:schemeClr val="dk1"/>
                </a:solidFill>
                <a:latin typeface="Oswald"/>
                <a:ea typeface="Oswald"/>
                <a:cs typeface="Oswald"/>
                <a:sym typeface="Oswald"/>
              </a:rPr>
              <a:t> show strong, consistent demand across almost all certification channels, averaging </a:t>
            </a:r>
            <a:r>
              <a:rPr b="1" lang="en-US" sz="2500">
                <a:solidFill>
                  <a:schemeClr val="dk1"/>
                </a:solidFill>
                <a:latin typeface="Oswald"/>
                <a:ea typeface="Oswald"/>
                <a:cs typeface="Oswald"/>
                <a:sym typeface="Oswald"/>
              </a:rPr>
              <a:t>100–161 openings per block</a:t>
            </a:r>
            <a:r>
              <a:rPr lang="en-US" sz="2500">
                <a:solidFill>
                  <a:schemeClr val="dk1"/>
                </a:solidFill>
                <a:latin typeface="Oswald"/>
                <a:ea typeface="Oswald"/>
                <a:cs typeface="Oswald"/>
                <a:sym typeface="Oswald"/>
              </a:rPr>
              <a:t>. </a:t>
            </a:r>
            <a:endParaRPr sz="2500">
              <a:solidFill>
                <a:schemeClr val="dk1"/>
              </a:solidFill>
              <a:latin typeface="Oswald"/>
              <a:ea typeface="Oswald"/>
              <a:cs typeface="Oswald"/>
              <a:sym typeface="Oswald"/>
            </a:endParaRPr>
          </a:p>
          <a:p>
            <a:pPr indent="-387350" lvl="0" marL="457200" rtl="0" algn="l">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Opening Volume Range (Matrix Scale):</a:t>
            </a:r>
            <a:r>
              <a:rPr lang="en-US" sz="2500">
                <a:solidFill>
                  <a:schemeClr val="dk1"/>
                </a:solidFill>
                <a:latin typeface="Oswald"/>
                <a:ea typeface="Oswald"/>
                <a:cs typeface="Oswald"/>
                <a:sym typeface="Oswald"/>
              </a:rPr>
              <a:t> Individual cell volumes span from </a:t>
            </a:r>
            <a:r>
              <a:rPr b="1" lang="en-US" sz="2500">
                <a:solidFill>
                  <a:schemeClr val="dk1"/>
                </a:solidFill>
                <a:latin typeface="Oswald"/>
                <a:ea typeface="Oswald"/>
                <a:cs typeface="Oswald"/>
                <a:sym typeface="Oswald"/>
              </a:rPr>
              <a:t>27 job openings</a:t>
            </a:r>
            <a:r>
              <a:rPr lang="en-US" sz="2500">
                <a:solidFill>
                  <a:schemeClr val="dk1"/>
                </a:solidFill>
                <a:latin typeface="Oswald"/>
                <a:ea typeface="Oswald"/>
                <a:cs typeface="Oswald"/>
                <a:sym typeface="Oswald"/>
              </a:rPr>
              <a:t> up to </a:t>
            </a:r>
            <a:r>
              <a:rPr b="1" lang="en-US" sz="2500">
                <a:solidFill>
                  <a:schemeClr val="dk1"/>
                </a:solidFill>
                <a:latin typeface="Oswald"/>
                <a:ea typeface="Oswald"/>
                <a:cs typeface="Oswald"/>
                <a:sym typeface="Oswald"/>
              </a:rPr>
              <a:t>248 job openings</a:t>
            </a:r>
            <a:r>
              <a:rPr lang="en-US" sz="2500">
                <a:solidFill>
                  <a:schemeClr val="dk1"/>
                </a:solidFill>
                <a:latin typeface="Oswald"/>
                <a:ea typeface="Oswald"/>
                <a:cs typeface="Oswald"/>
                <a:sym typeface="Oswald"/>
              </a:rPr>
              <a:t>, highlighting localized skill/certification preferences.</a:t>
            </a:r>
            <a:endParaRPr sz="2500">
              <a:solidFill>
                <a:schemeClr val="dk1"/>
              </a:solidFill>
              <a:latin typeface="Oswald"/>
              <a:ea typeface="Oswald"/>
              <a:cs typeface="Oswald"/>
              <a:sym typeface="Oswa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8" name="Shape 178"/>
        <p:cNvGrpSpPr/>
        <p:nvPr/>
      </p:nvGrpSpPr>
      <p:grpSpPr>
        <a:xfrm>
          <a:off x="0" y="0"/>
          <a:ext cx="0" cy="0"/>
          <a:chOff x="0" y="0"/>
          <a:chExt cx="0" cy="0"/>
        </a:xfrm>
      </p:grpSpPr>
      <p:pic>
        <p:nvPicPr>
          <p:cNvPr descr="8. Automation Risk vs. Job Growth Projection (Bubble Chart)" id="179" name="Google Shape;179;p11"/>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3" name="Shape 183"/>
        <p:cNvGrpSpPr/>
        <p:nvPr/>
      </p:nvGrpSpPr>
      <p:grpSpPr>
        <a:xfrm>
          <a:off x="0" y="0"/>
          <a:ext cx="0" cy="0"/>
          <a:chOff x="0" y="0"/>
          <a:chExt cx="0" cy="0"/>
        </a:xfrm>
      </p:grpSpPr>
      <p:sp>
        <p:nvSpPr>
          <p:cNvPr id="184" name="Google Shape;184;h3130402f1d16313a_0_45"/>
          <p:cNvSpPr txBox="1"/>
          <p:nvPr/>
        </p:nvSpPr>
        <p:spPr>
          <a:xfrm>
            <a:off x="0" y="0"/>
            <a:ext cx="12192000" cy="6827400"/>
          </a:xfrm>
          <a:prstGeom prst="rect">
            <a:avLst/>
          </a:prstGeom>
          <a:noFill/>
          <a:ln>
            <a:noFill/>
          </a:ln>
        </p:spPr>
        <p:txBody>
          <a:bodyPr anchorCtr="0" anchor="t" bIns="91425" lIns="91425" spcFirstLastPara="1" rIns="91425" wrap="square" tIns="91425">
            <a:spAutoFit/>
          </a:bodyPr>
          <a:lstStyle/>
          <a:p>
            <a:pPr indent="-361950" lvl="0" marL="457200" rtl="0" algn="l">
              <a:lnSpc>
                <a:spcPct val="115000"/>
              </a:lnSpc>
              <a:spcBef>
                <a:spcPts val="0"/>
              </a:spcBef>
              <a:spcAft>
                <a:spcPts val="0"/>
              </a:spcAft>
              <a:buClr>
                <a:schemeClr val="dk1"/>
              </a:buClr>
              <a:buSzPts val="2100"/>
              <a:buChar char="●"/>
            </a:pPr>
            <a:r>
              <a:rPr b="1" lang="en-US" sz="2100">
                <a:solidFill>
                  <a:schemeClr val="dk1"/>
                </a:solidFill>
                <a:latin typeface="Oswald"/>
                <a:ea typeface="Oswald"/>
                <a:cs typeface="Oswald"/>
                <a:sym typeface="Oswald"/>
              </a:rPr>
              <a:t>Clear Risk vs. Growth Quadrant Separation:</a:t>
            </a:r>
            <a:r>
              <a:rPr lang="en-US" sz="2100">
                <a:solidFill>
                  <a:schemeClr val="dk1"/>
                </a:solidFill>
                <a:latin typeface="Oswald"/>
                <a:ea typeface="Oswald"/>
                <a:cs typeface="Oswald"/>
                <a:sym typeface="Oswald"/>
              </a:rPr>
              <a:t> The chart maps AI roles against a Risk Threshold (vertical reference line at 22.67% Automation Risk) and a Growth Baseline (horizontal reference line at 30.086% Job Growth Projection).</a:t>
            </a:r>
            <a:endParaRPr sz="2100">
              <a:solidFill>
                <a:schemeClr val="dk1"/>
              </a:solidFill>
              <a:latin typeface="Oswald"/>
              <a:ea typeface="Oswald"/>
              <a:cs typeface="Oswald"/>
              <a:sym typeface="Oswald"/>
            </a:endParaRPr>
          </a:p>
          <a:p>
            <a:pPr indent="-361950" lvl="0" marL="457200" rtl="0" algn="l">
              <a:lnSpc>
                <a:spcPct val="115000"/>
              </a:lnSpc>
              <a:spcBef>
                <a:spcPts val="0"/>
              </a:spcBef>
              <a:spcAft>
                <a:spcPts val="0"/>
              </a:spcAft>
              <a:buClr>
                <a:schemeClr val="dk1"/>
              </a:buClr>
              <a:buSzPts val="2100"/>
              <a:buFont typeface="Oswald"/>
              <a:buChar char="●"/>
            </a:pPr>
            <a:r>
              <a:rPr b="1" lang="en-US" sz="2100">
                <a:solidFill>
                  <a:schemeClr val="dk1"/>
                </a:solidFill>
                <a:latin typeface="Oswald"/>
                <a:ea typeface="Oswald"/>
                <a:cs typeface="Oswald"/>
                <a:sym typeface="Oswald"/>
              </a:rPr>
              <a:t>High Growth &amp; Higher Automation Risk (Top-Right Quadrant):</a:t>
            </a:r>
            <a:endParaRPr b="1" sz="2100">
              <a:solidFill>
                <a:schemeClr val="dk1"/>
              </a:solidFill>
              <a:latin typeface="Oswald"/>
              <a:ea typeface="Oswald"/>
              <a:cs typeface="Oswald"/>
              <a:sym typeface="Oswald"/>
            </a:endParaRPr>
          </a:p>
          <a:p>
            <a:pPr indent="-361950" lvl="1" marL="914400" rtl="0" algn="l">
              <a:lnSpc>
                <a:spcPct val="115000"/>
              </a:lnSpc>
              <a:spcBef>
                <a:spcPts val="0"/>
              </a:spcBef>
              <a:spcAft>
                <a:spcPts val="0"/>
              </a:spcAft>
              <a:buClr>
                <a:schemeClr val="dk1"/>
              </a:buClr>
              <a:buSzPts val="2100"/>
              <a:buFont typeface="Oswald"/>
              <a:buChar char="○"/>
            </a:pPr>
            <a:r>
              <a:rPr lang="en-US" sz="2100">
                <a:solidFill>
                  <a:schemeClr val="dk1"/>
                </a:solidFill>
                <a:latin typeface="Oswald"/>
                <a:ea typeface="Oswald"/>
                <a:cs typeface="Oswald"/>
                <a:sym typeface="Oswald"/>
              </a:rPr>
              <a:t>Roles like Computer Vision Engineer, Senior Data Scientist, PhD Research Fellow, AI Policy Advisor, and MLOps Engineer achieve above-average growth (&gt;30%) but face higher automation risk (&gt;22.67%).</a:t>
            </a:r>
            <a:endParaRPr sz="2100">
              <a:solidFill>
                <a:schemeClr val="dk1"/>
              </a:solidFill>
              <a:latin typeface="Oswald"/>
              <a:ea typeface="Oswald"/>
              <a:cs typeface="Oswald"/>
              <a:sym typeface="Oswald"/>
            </a:endParaRPr>
          </a:p>
          <a:p>
            <a:pPr indent="-361950" lvl="1" marL="914400" rtl="0" algn="l">
              <a:lnSpc>
                <a:spcPct val="115000"/>
              </a:lnSpc>
              <a:spcBef>
                <a:spcPts val="0"/>
              </a:spcBef>
              <a:spcAft>
                <a:spcPts val="0"/>
              </a:spcAft>
              <a:buClr>
                <a:schemeClr val="dk1"/>
              </a:buClr>
              <a:buSzPts val="2100"/>
              <a:buFont typeface="Oswald"/>
              <a:buChar char="○"/>
            </a:pPr>
            <a:r>
              <a:rPr lang="en-US" sz="2100">
                <a:solidFill>
                  <a:schemeClr val="dk1"/>
                </a:solidFill>
                <a:latin typeface="Oswald"/>
                <a:ea typeface="Oswald"/>
                <a:cs typeface="Oswald"/>
                <a:sym typeface="Oswald"/>
              </a:rPr>
              <a:t>Research Scientist (AI) sits furthest right, registering the highest automation risk score (near 24.5%).</a:t>
            </a:r>
            <a:endParaRPr sz="2100">
              <a:solidFill>
                <a:schemeClr val="dk1"/>
              </a:solidFill>
              <a:latin typeface="Oswald"/>
              <a:ea typeface="Oswald"/>
              <a:cs typeface="Oswald"/>
              <a:sym typeface="Oswald"/>
            </a:endParaRPr>
          </a:p>
          <a:p>
            <a:pPr indent="-361950" lvl="0" marL="457200" rtl="0" algn="l">
              <a:lnSpc>
                <a:spcPct val="115000"/>
              </a:lnSpc>
              <a:spcBef>
                <a:spcPts val="0"/>
              </a:spcBef>
              <a:spcAft>
                <a:spcPts val="0"/>
              </a:spcAft>
              <a:buClr>
                <a:schemeClr val="dk1"/>
              </a:buClr>
              <a:buSzPts val="2100"/>
              <a:buChar char="●"/>
            </a:pPr>
            <a:r>
              <a:rPr b="1" lang="en-US" sz="2100">
                <a:solidFill>
                  <a:schemeClr val="dk1"/>
                </a:solidFill>
                <a:latin typeface="Oswald"/>
                <a:ea typeface="Oswald"/>
                <a:cs typeface="Oswald"/>
                <a:sym typeface="Oswald"/>
              </a:rPr>
              <a:t>High Growth &amp; Lower Automation Risk (Top-Left Quadrant - Future-Proof Stars): </a:t>
            </a:r>
            <a:r>
              <a:rPr lang="en-US" sz="2100">
                <a:solidFill>
                  <a:schemeClr val="dk1"/>
                </a:solidFill>
                <a:latin typeface="Oswald"/>
                <a:ea typeface="Oswald"/>
                <a:cs typeface="Oswald"/>
                <a:sym typeface="Oswald"/>
              </a:rPr>
              <a:t>Roles including AI Infrastructure Engineer, Data Analyst, Prompt Engineer, Lead Data Scientist, and Autonomous Vehicle Engineer achieve above-baseline growth while staying safely below the 22.67% risk threshold. </a:t>
            </a:r>
            <a:endParaRPr sz="2100">
              <a:solidFill>
                <a:schemeClr val="dk1"/>
              </a:solidFill>
              <a:latin typeface="Oswald"/>
              <a:ea typeface="Oswald"/>
              <a:cs typeface="Oswald"/>
              <a:sym typeface="Oswald"/>
            </a:endParaRPr>
          </a:p>
          <a:p>
            <a:pPr indent="-361950" lvl="0" marL="457200" rtl="0" algn="l">
              <a:lnSpc>
                <a:spcPct val="115000"/>
              </a:lnSpc>
              <a:spcBef>
                <a:spcPts val="0"/>
              </a:spcBef>
              <a:spcAft>
                <a:spcPts val="0"/>
              </a:spcAft>
              <a:buClr>
                <a:schemeClr val="dk1"/>
              </a:buClr>
              <a:buSzPts val="2100"/>
              <a:buFont typeface="Oswald"/>
              <a:buChar char="●"/>
            </a:pPr>
            <a:r>
              <a:rPr b="1" lang="en-US" sz="2100">
                <a:solidFill>
                  <a:schemeClr val="dk1"/>
                </a:solidFill>
                <a:latin typeface="Oswald"/>
                <a:ea typeface="Oswald"/>
                <a:cs typeface="Oswald"/>
                <a:sym typeface="Oswald"/>
              </a:rPr>
              <a:t>Lower Growth &amp; High Automation Risk (Bottom-Right Quadrant): </a:t>
            </a:r>
            <a:endParaRPr b="1" sz="2100">
              <a:solidFill>
                <a:schemeClr val="dk1"/>
              </a:solidFill>
              <a:latin typeface="Oswald"/>
              <a:ea typeface="Oswald"/>
              <a:cs typeface="Oswald"/>
              <a:sym typeface="Oswald"/>
            </a:endParaRPr>
          </a:p>
          <a:p>
            <a:pPr indent="-361950" lvl="1" marL="914400" rtl="0" algn="l">
              <a:lnSpc>
                <a:spcPct val="115000"/>
              </a:lnSpc>
              <a:spcBef>
                <a:spcPts val="0"/>
              </a:spcBef>
              <a:spcAft>
                <a:spcPts val="0"/>
              </a:spcAft>
              <a:buClr>
                <a:schemeClr val="dk1"/>
              </a:buClr>
              <a:buSzPts val="2100"/>
              <a:buFont typeface="Oswald"/>
              <a:buChar char="○"/>
            </a:pPr>
            <a:r>
              <a:rPr lang="en-US" sz="2100">
                <a:solidFill>
                  <a:schemeClr val="dk1"/>
                </a:solidFill>
                <a:latin typeface="Oswald"/>
                <a:ea typeface="Oswald"/>
                <a:cs typeface="Oswald"/>
                <a:sym typeface="Oswald"/>
              </a:rPr>
              <a:t>Positions such as AI Product Manager, NLP Engineer, Deep Learning Engineer, AI Solutions Architect, and Postdoctoral Researcher display below-average growth projections alongside elevated automation risk. </a:t>
            </a:r>
            <a:endParaRPr sz="2100">
              <a:solidFill>
                <a:schemeClr val="dk1"/>
              </a:solidFill>
              <a:latin typeface="Oswald"/>
              <a:ea typeface="Oswald"/>
              <a:cs typeface="Oswald"/>
              <a:sym typeface="Oswald"/>
            </a:endParaRPr>
          </a:p>
          <a:p>
            <a:pPr indent="-361950" lvl="1" marL="914400" rtl="0" algn="l">
              <a:lnSpc>
                <a:spcPct val="115000"/>
              </a:lnSpc>
              <a:spcBef>
                <a:spcPts val="0"/>
              </a:spcBef>
              <a:spcAft>
                <a:spcPts val="0"/>
              </a:spcAft>
              <a:buClr>
                <a:schemeClr val="dk1"/>
              </a:buClr>
              <a:buSzPts val="2100"/>
              <a:buFont typeface="Oswald"/>
              <a:buChar char="○"/>
            </a:pPr>
            <a:r>
              <a:rPr lang="en-US" sz="2100">
                <a:solidFill>
                  <a:schemeClr val="dk1"/>
                </a:solidFill>
                <a:latin typeface="Oswald"/>
                <a:ea typeface="Oswald"/>
                <a:cs typeface="Oswald"/>
                <a:sym typeface="Oswald"/>
              </a:rPr>
              <a:t>AI Product Manager records the lowest overall projected growth (~27.5%). </a:t>
            </a:r>
            <a:endParaRPr sz="2100">
              <a:solidFill>
                <a:schemeClr val="dk1"/>
              </a:solidFill>
              <a:latin typeface="Oswald"/>
              <a:ea typeface="Oswald"/>
              <a:cs typeface="Oswald"/>
              <a:sym typeface="Oswald"/>
            </a:endParaRPr>
          </a:p>
          <a:p>
            <a:pPr indent="-361950" lvl="0" marL="457200" rtl="0" algn="l">
              <a:lnSpc>
                <a:spcPct val="115000"/>
              </a:lnSpc>
              <a:spcBef>
                <a:spcPts val="0"/>
              </a:spcBef>
              <a:spcAft>
                <a:spcPts val="0"/>
              </a:spcAft>
              <a:buClr>
                <a:schemeClr val="dk1"/>
              </a:buClr>
              <a:buSzPts val="2100"/>
              <a:buChar char="●"/>
            </a:pPr>
            <a:r>
              <a:rPr b="1" lang="en-US" sz="2100">
                <a:solidFill>
                  <a:schemeClr val="dk1"/>
                </a:solidFill>
                <a:latin typeface="Oswald"/>
                <a:ea typeface="Oswald"/>
                <a:cs typeface="Oswald"/>
                <a:sym typeface="Oswald"/>
              </a:rPr>
              <a:t>Lower Growth &amp; Lower Automation Risk (Bottom-Left Quadrant):</a:t>
            </a:r>
            <a:r>
              <a:rPr lang="en-US" sz="2100">
                <a:solidFill>
                  <a:schemeClr val="dk1"/>
                </a:solidFill>
                <a:latin typeface="Oswald"/>
                <a:ea typeface="Oswald"/>
                <a:cs typeface="Oswald"/>
                <a:sym typeface="Oswald"/>
              </a:rPr>
              <a:t> Roles like Robotics Engineer, AI Operations Manager, AI Trainer, AI Cloud Engineer, and Machine Learning Engineer sit below both the growth baseline and risk threshold. </a:t>
            </a:r>
            <a:endParaRPr sz="2100">
              <a:solidFill>
                <a:schemeClr val="dk1"/>
              </a:solidFill>
              <a:latin typeface="Oswald"/>
              <a:ea typeface="Oswald"/>
              <a:cs typeface="Oswald"/>
              <a:sym typeface="Oswald"/>
            </a:endParaRPr>
          </a:p>
          <a:p>
            <a:pPr indent="-361950" lvl="0" marL="457200" rtl="0" algn="l">
              <a:lnSpc>
                <a:spcPct val="115000"/>
              </a:lnSpc>
              <a:spcBef>
                <a:spcPts val="0"/>
              </a:spcBef>
              <a:spcAft>
                <a:spcPts val="0"/>
              </a:spcAft>
              <a:buClr>
                <a:schemeClr val="dk1"/>
              </a:buClr>
              <a:buSzPts val="2100"/>
              <a:buChar char="●"/>
            </a:pPr>
            <a:r>
              <a:rPr b="1" lang="en-US" sz="2100">
                <a:solidFill>
                  <a:schemeClr val="dk1"/>
                </a:solidFill>
                <a:latin typeface="Oswald"/>
                <a:ea typeface="Oswald"/>
                <a:cs typeface="Oswald"/>
                <a:sym typeface="Oswald"/>
              </a:rPr>
              <a:t>Metrics &amp; Sizing:</a:t>
            </a:r>
            <a:r>
              <a:rPr lang="en-US" sz="2100">
                <a:solidFill>
                  <a:schemeClr val="dk1"/>
                </a:solidFill>
                <a:latin typeface="Oswald"/>
                <a:ea typeface="Oswald"/>
                <a:cs typeface="Oswald"/>
                <a:sym typeface="Oswald"/>
              </a:rPr>
              <a:t> Bubble size indicates Job Openings (scaling from 1,046 to 1,687), while the color scale reflects total Automation Risk % (ranging from green at 2,310 to red at 3,652). </a:t>
            </a:r>
            <a:endParaRPr sz="2100">
              <a:solidFill>
                <a:schemeClr val="dk1"/>
              </a:solidFill>
              <a:latin typeface="Oswald"/>
              <a:ea typeface="Oswald"/>
              <a:cs typeface="Oswald"/>
              <a:sym typeface="Oswa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8" name="Shape 188"/>
        <p:cNvGrpSpPr/>
        <p:nvPr/>
      </p:nvGrpSpPr>
      <p:grpSpPr>
        <a:xfrm>
          <a:off x="0" y="0"/>
          <a:ext cx="0" cy="0"/>
          <a:chOff x="0" y="0"/>
          <a:chExt cx="0" cy="0"/>
        </a:xfrm>
      </p:grpSpPr>
      <p:pic>
        <p:nvPicPr>
          <p:cNvPr descr="Talent Supply, Demand &amp;amp; Hiring Dynamics" id="189" name="Google Shape;189;p12"/>
          <p:cNvPicPr preferRelativeResize="0"/>
          <p:nvPr/>
        </p:nvPicPr>
        <p:blipFill rotWithShape="1">
          <a:blip r:embed="rId3">
            <a:alphaModFix/>
          </a:blip>
          <a:srcRect b="0" l="0" r="0" t="0"/>
          <a:stretch/>
        </p:blipFill>
        <p:spPr>
          <a:xfrm>
            <a:off x="1809750" y="-75750"/>
            <a:ext cx="8572500" cy="7008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3" name="Shape 193"/>
        <p:cNvGrpSpPr/>
        <p:nvPr/>
      </p:nvGrpSpPr>
      <p:grpSpPr>
        <a:xfrm>
          <a:off x="0" y="0"/>
          <a:ext cx="0" cy="0"/>
          <a:chOff x="0" y="0"/>
          <a:chExt cx="0" cy="0"/>
        </a:xfrm>
      </p:grpSpPr>
      <p:sp>
        <p:nvSpPr>
          <p:cNvPr id="194" name="Google Shape;194;h3130402f1d16313a_0_50"/>
          <p:cNvSpPr txBox="1"/>
          <p:nvPr/>
        </p:nvSpPr>
        <p:spPr>
          <a:xfrm>
            <a:off x="0" y="0"/>
            <a:ext cx="12192000" cy="6645600"/>
          </a:xfrm>
          <a:prstGeom prst="rect">
            <a:avLst/>
          </a:prstGeom>
          <a:noFill/>
          <a:ln>
            <a:noFill/>
          </a:ln>
        </p:spPr>
        <p:txBody>
          <a:bodyPr anchorCtr="0" anchor="t" bIns="91425" lIns="91425" spcFirstLastPara="1" rIns="91425" wrap="square" tIns="91425">
            <a:spAutoFit/>
          </a:bodyPr>
          <a:lstStyle/>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Hiring Bottlenecks &amp; The Qualification Paradox:</a:t>
            </a:r>
            <a:r>
              <a:rPr lang="en-US" sz="2300">
                <a:solidFill>
                  <a:schemeClr val="dk1"/>
                </a:solidFill>
                <a:latin typeface="Oswald"/>
                <a:ea typeface="Oswald"/>
                <a:cs typeface="Oswald"/>
                <a:sym typeface="Oswald"/>
              </a:rPr>
              <a:t> High applicant volume does not guarantee hiring ease. Roles like Autonomous Vehicle Engineer and AI Infrastructure Engineer face extreme competition (&gt;37K applicants) alongside maximum hiring difficulty scores (&gt;950). Conversely, low-friction roles like Generative AI Engineer offer faster talent acquisition pathways.</a:t>
            </a:r>
            <a:endParaRPr sz="2300">
              <a:solidFill>
                <a:schemeClr val="dk1"/>
              </a:solidFill>
              <a:latin typeface="Oswald"/>
              <a:ea typeface="Oswald"/>
              <a:cs typeface="Oswald"/>
              <a:sym typeface="Oswald"/>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Vendor-Certification Demand Drivers:</a:t>
            </a:r>
            <a:r>
              <a:rPr lang="en-US" sz="2300">
                <a:solidFill>
                  <a:schemeClr val="dk1"/>
                </a:solidFill>
                <a:latin typeface="Oswald"/>
                <a:ea typeface="Oswald"/>
                <a:cs typeface="Oswald"/>
                <a:sym typeface="Oswald"/>
              </a:rPr>
              <a:t> Sourcing pipelines are heavily optimized around specific credential-skill pairings. Combining PyTorch/Deep Learning skills with vendor certifications (Google ML, DeepLearning.ai) unleashes peak market demand (scaling up to 248 openings per segment). However, core leadership and basic analytics remain high-volume hiring drivers even without mandatory certifications.</a:t>
            </a:r>
            <a:endParaRPr sz="2300">
              <a:solidFill>
                <a:schemeClr val="dk1"/>
              </a:solidFill>
              <a:latin typeface="Oswald"/>
              <a:ea typeface="Oswald"/>
              <a:cs typeface="Oswald"/>
              <a:sym typeface="Oswald"/>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Future-Proofing the AI Workforce:</a:t>
            </a:r>
            <a:r>
              <a:rPr lang="en-US" sz="2300">
                <a:solidFill>
                  <a:schemeClr val="dk1"/>
                </a:solidFill>
                <a:latin typeface="Oswald"/>
                <a:ea typeface="Oswald"/>
                <a:cs typeface="Oswald"/>
                <a:sym typeface="Oswald"/>
              </a:rPr>
              <a:t> Long-term headcount strategy must align with automation trends. Top-Left "Future-Proof" roles (e.g., AI Infrastructure Engineer, Data Analyst) combine above-average growth (&gt;30%) with low automation risk (&lt;22.67%). Meanwhile, routine technical roles facing elevated automation risk (e.g., Research Scientists at ~24.5% risk) require continuous upskilling toward infrastructure and systems engineering.</a:t>
            </a:r>
            <a:endParaRPr sz="2300">
              <a:solidFill>
                <a:schemeClr val="dk1"/>
              </a:solidFill>
              <a:latin typeface="Oswald"/>
              <a:ea typeface="Oswald"/>
              <a:cs typeface="Oswald"/>
              <a:sym typeface="Oswald"/>
            </a:endParaRPr>
          </a:p>
          <a:p>
            <a:pPr indent="-374650" lvl="0" marL="457200" rtl="0" algn="l">
              <a:lnSpc>
                <a:spcPct val="115000"/>
              </a:lnSpc>
              <a:spcBef>
                <a:spcPts val="0"/>
              </a:spcBef>
              <a:spcAft>
                <a:spcPts val="0"/>
              </a:spcAft>
              <a:buClr>
                <a:schemeClr val="dk1"/>
              </a:buClr>
              <a:buSzPts val="2300"/>
              <a:buChar char="●"/>
            </a:pPr>
            <a:r>
              <a:rPr b="1" lang="en-US" sz="2300">
                <a:solidFill>
                  <a:schemeClr val="dk1"/>
                </a:solidFill>
                <a:latin typeface="Oswald"/>
                <a:ea typeface="Oswald"/>
                <a:cs typeface="Oswald"/>
                <a:sym typeface="Oswald"/>
              </a:rPr>
              <a:t>Integrated Talent Strategy:</a:t>
            </a:r>
            <a:r>
              <a:rPr lang="en-US" sz="2300">
                <a:solidFill>
                  <a:schemeClr val="dk1"/>
                </a:solidFill>
                <a:latin typeface="Oswald"/>
                <a:ea typeface="Oswald"/>
                <a:cs typeface="Oswald"/>
                <a:sym typeface="Oswald"/>
              </a:rPr>
              <a:t> Organizations must deploy targeted screening for high-volume bottleneck roles, sponsor specialized vendor-ML certifications for core engineering teams, and actively shift workforce planning toward automation-resilient infrastructure positions.</a:t>
            </a:r>
            <a:endParaRPr sz="2300">
              <a:solidFill>
                <a:schemeClr val="dk1"/>
              </a:solidFill>
              <a:latin typeface="Oswald"/>
              <a:ea typeface="Oswald"/>
              <a:cs typeface="Oswald"/>
              <a:sym typeface="Oswa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8" name="Shape 198"/>
        <p:cNvGrpSpPr/>
        <p:nvPr/>
      </p:nvGrpSpPr>
      <p:grpSpPr>
        <a:xfrm>
          <a:off x="0" y="0"/>
          <a:ext cx="0" cy="0"/>
          <a:chOff x="0" y="0"/>
          <a:chExt cx="0" cy="0"/>
        </a:xfrm>
      </p:grpSpPr>
      <p:pic>
        <p:nvPicPr>
          <p:cNvPr descr="9. Work-Life Balance vs. Job Satisfaction Quad-Analysis" id="199" name="Google Shape;199;p13"/>
          <p:cNvPicPr preferRelativeResize="0"/>
          <p:nvPr/>
        </p:nvPicPr>
        <p:blipFill rotWithShape="1">
          <a:blip r:embed="rId3">
            <a:alphaModFix/>
          </a:blip>
          <a:srcRect b="0" l="0" r="0" t="0"/>
          <a:stretch/>
        </p:blipFill>
        <p:spPr>
          <a:xfrm>
            <a:off x="0" y="0"/>
            <a:ext cx="12192001" cy="6858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3" name="Shape 203"/>
        <p:cNvGrpSpPr/>
        <p:nvPr/>
      </p:nvGrpSpPr>
      <p:grpSpPr>
        <a:xfrm>
          <a:off x="0" y="0"/>
          <a:ext cx="0" cy="0"/>
          <a:chOff x="0" y="0"/>
          <a:chExt cx="0" cy="0"/>
        </a:xfrm>
      </p:grpSpPr>
      <p:sp>
        <p:nvSpPr>
          <p:cNvPr id="204" name="Google Shape;204;h3130402f1d16313a_0_55"/>
          <p:cNvSpPr txBox="1"/>
          <p:nvPr/>
        </p:nvSpPr>
        <p:spPr>
          <a:xfrm>
            <a:off x="0" y="0"/>
            <a:ext cx="12192000" cy="68220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Char char="●"/>
            </a:pPr>
            <a:r>
              <a:rPr b="1" lang="en-US" sz="2200">
                <a:solidFill>
                  <a:schemeClr val="dk1"/>
                </a:solidFill>
                <a:latin typeface="Oswald"/>
                <a:ea typeface="Oswald"/>
                <a:cs typeface="Oswald"/>
                <a:sym typeface="Oswald"/>
              </a:rPr>
              <a:t>Clear 4-Quadrant Satisfaction Breakdown:</a:t>
            </a:r>
            <a:r>
              <a:rPr lang="en-US" sz="2200">
                <a:solidFill>
                  <a:schemeClr val="dk1"/>
                </a:solidFill>
                <a:latin typeface="Oswald"/>
                <a:ea typeface="Oswald"/>
                <a:cs typeface="Oswald"/>
                <a:sym typeface="Oswald"/>
              </a:rPr>
              <a:t> The plot splits AI roles across an Average Work-Life Balance score (horizontal axis, median/average baseline at 6.51) and an Average Job Satisfaction score (vertical axis, average baseline at 7.50).</a:t>
            </a:r>
            <a:endParaRPr sz="2200">
              <a:solidFill>
                <a:schemeClr val="dk1"/>
              </a:solidFill>
              <a:latin typeface="Oswald"/>
              <a:ea typeface="Oswald"/>
              <a:cs typeface="Oswald"/>
              <a:sym typeface="Oswald"/>
            </a:endParaRPr>
          </a:p>
          <a:p>
            <a:pPr indent="-368300" lvl="0" marL="457200" rtl="0" algn="l">
              <a:spcBef>
                <a:spcPts val="0"/>
              </a:spcBef>
              <a:spcAft>
                <a:spcPts val="0"/>
              </a:spcAft>
              <a:buClr>
                <a:schemeClr val="dk1"/>
              </a:buClr>
              <a:buSzPts val="2200"/>
              <a:buFont typeface="Oswald"/>
              <a:buChar char="●"/>
            </a:pPr>
            <a:r>
              <a:rPr b="1" lang="en-US" sz="2200">
                <a:solidFill>
                  <a:schemeClr val="dk1"/>
                </a:solidFill>
                <a:latin typeface="Oswald"/>
                <a:ea typeface="Oswald"/>
                <a:cs typeface="Oswald"/>
                <a:sym typeface="Oswald"/>
              </a:rPr>
              <a:t>Work-From-Home (WFH) Impact on Remote Work % (Color vs. Size):</a:t>
            </a:r>
            <a:endParaRPr b="1" sz="2200">
              <a:solidFill>
                <a:schemeClr val="dk1"/>
              </a:solidFill>
              <a:latin typeface="Oswald"/>
              <a:ea typeface="Oswald"/>
              <a:cs typeface="Oswald"/>
              <a:sym typeface="Oswald"/>
            </a:endParaRPr>
          </a:p>
          <a:p>
            <a:pPr indent="-368300" lvl="1" marL="914400" rtl="0" algn="l">
              <a:lnSpc>
                <a:spcPct val="115000"/>
              </a:lnSpc>
              <a:spcBef>
                <a:spcPts val="0"/>
              </a:spcBef>
              <a:spcAft>
                <a:spcPts val="0"/>
              </a:spcAft>
              <a:buClr>
                <a:schemeClr val="dk1"/>
              </a:buClr>
              <a:buSzPts val="2200"/>
              <a:buChar char="○"/>
            </a:pPr>
            <a:r>
              <a:rPr b="1" lang="en-US" sz="2200">
                <a:solidFill>
                  <a:schemeClr val="dk1"/>
                </a:solidFill>
                <a:latin typeface="Oswald"/>
                <a:ea typeface="Oswald"/>
                <a:cs typeface="Oswald"/>
                <a:sym typeface="Oswald"/>
              </a:rPr>
              <a:t>WFH Available = "Yes" (Orange):</a:t>
            </a:r>
            <a:r>
              <a:rPr lang="en-US" sz="2200">
                <a:solidFill>
                  <a:schemeClr val="dk1"/>
                </a:solidFill>
                <a:latin typeface="Oswald"/>
                <a:ea typeface="Oswald"/>
                <a:cs typeface="Oswald"/>
                <a:sym typeface="Oswald"/>
              </a:rPr>
              <a:t> Roles offering WFH flexibility display consistently larger bubble sizes, correlating with higher Average Remote Work % (scaling up to 76.30%).</a:t>
            </a:r>
            <a:endParaRPr sz="2200">
              <a:solidFill>
                <a:schemeClr val="dk1"/>
              </a:solidFill>
              <a:latin typeface="Oswald"/>
              <a:ea typeface="Oswald"/>
              <a:cs typeface="Oswald"/>
              <a:sym typeface="Oswald"/>
            </a:endParaRPr>
          </a:p>
          <a:p>
            <a:pPr indent="-368300" lvl="1" marL="914400" rtl="0" algn="l">
              <a:lnSpc>
                <a:spcPct val="115000"/>
              </a:lnSpc>
              <a:spcBef>
                <a:spcPts val="0"/>
              </a:spcBef>
              <a:spcAft>
                <a:spcPts val="0"/>
              </a:spcAft>
              <a:buClr>
                <a:schemeClr val="dk1"/>
              </a:buClr>
              <a:buSzPts val="2200"/>
              <a:buChar char="○"/>
            </a:pPr>
            <a:r>
              <a:rPr b="1" lang="en-US" sz="2200">
                <a:solidFill>
                  <a:schemeClr val="dk1"/>
                </a:solidFill>
                <a:latin typeface="Oswald"/>
                <a:ea typeface="Oswald"/>
                <a:cs typeface="Oswald"/>
                <a:sym typeface="Oswald"/>
              </a:rPr>
              <a:t>WFH Available = "No" (Blue):</a:t>
            </a:r>
            <a:r>
              <a:rPr lang="en-US" sz="2200">
                <a:solidFill>
                  <a:schemeClr val="dk1"/>
                </a:solidFill>
                <a:latin typeface="Oswald"/>
                <a:ea typeface="Oswald"/>
                <a:cs typeface="Oswald"/>
                <a:sym typeface="Oswald"/>
              </a:rPr>
              <a:t> Non-WFH roles feature noticeably smaller mark sizes, corresponding to low remote work percentages (~24.44%).</a:t>
            </a:r>
            <a:endParaRPr sz="2200">
              <a:solidFill>
                <a:schemeClr val="dk1"/>
              </a:solidFill>
              <a:latin typeface="Oswald"/>
              <a:ea typeface="Oswald"/>
              <a:cs typeface="Oswald"/>
              <a:sym typeface="Oswald"/>
            </a:endParaRPr>
          </a:p>
          <a:p>
            <a:pPr indent="-368300" lvl="0" marL="457200" rtl="0" algn="l">
              <a:spcBef>
                <a:spcPts val="0"/>
              </a:spcBef>
              <a:spcAft>
                <a:spcPts val="0"/>
              </a:spcAft>
              <a:buClr>
                <a:schemeClr val="dk1"/>
              </a:buClr>
              <a:buSzPts val="2200"/>
              <a:buFont typeface="Oswald"/>
              <a:buChar char="●"/>
            </a:pPr>
            <a:r>
              <a:rPr b="1" lang="en-US" sz="2200">
                <a:solidFill>
                  <a:schemeClr val="dk1"/>
                </a:solidFill>
                <a:latin typeface="Oswald"/>
                <a:ea typeface="Oswald"/>
                <a:cs typeface="Oswald"/>
                <a:sym typeface="Oswald"/>
              </a:rPr>
              <a:t>High WLB &amp; High Job Satisfaction (Top-Right Sweet Spot): </a:t>
            </a:r>
            <a:endParaRPr b="1" sz="2200">
              <a:solidFill>
                <a:schemeClr val="dk1"/>
              </a:solidFill>
              <a:latin typeface="Oswald"/>
              <a:ea typeface="Oswald"/>
              <a:cs typeface="Oswald"/>
              <a:sym typeface="Oswald"/>
            </a:endParaRPr>
          </a:p>
          <a:p>
            <a:pPr indent="-368300" lvl="1" marL="914400" rtl="0" algn="l">
              <a:spcBef>
                <a:spcPts val="0"/>
              </a:spcBef>
              <a:spcAft>
                <a:spcPts val="0"/>
              </a:spcAft>
              <a:buClr>
                <a:schemeClr val="dk1"/>
              </a:buClr>
              <a:buSzPts val="2200"/>
              <a:buFont typeface="Oswald"/>
              <a:buChar char="○"/>
            </a:pPr>
            <a:r>
              <a:rPr lang="en-US" sz="2200">
                <a:solidFill>
                  <a:schemeClr val="dk1"/>
                </a:solidFill>
                <a:latin typeface="Oswald"/>
                <a:ea typeface="Oswald"/>
                <a:cs typeface="Oswald"/>
                <a:sym typeface="Oswald"/>
              </a:rPr>
              <a:t>Roles in this optimal quadrant score above average on both metrics (&gt;6.51 WLB and &gt;7.50 Job Satisfaction).</a:t>
            </a:r>
            <a:endParaRPr sz="2200">
              <a:solidFill>
                <a:schemeClr val="dk1"/>
              </a:solidFill>
              <a:latin typeface="Oswald"/>
              <a:ea typeface="Oswald"/>
              <a:cs typeface="Oswald"/>
              <a:sym typeface="Oswald"/>
            </a:endParaRPr>
          </a:p>
          <a:p>
            <a:pPr indent="-368300" lvl="1" marL="914400" rtl="0" algn="l">
              <a:spcBef>
                <a:spcPts val="0"/>
              </a:spcBef>
              <a:spcAft>
                <a:spcPts val="0"/>
              </a:spcAft>
              <a:buClr>
                <a:schemeClr val="dk1"/>
              </a:buClr>
              <a:buSzPts val="2200"/>
              <a:buFont typeface="Oswald"/>
              <a:buChar char="○"/>
            </a:pPr>
            <a:r>
              <a:rPr lang="en-US" sz="2200">
                <a:solidFill>
                  <a:schemeClr val="dk1"/>
                </a:solidFill>
                <a:latin typeface="Oswald"/>
                <a:ea typeface="Oswald"/>
                <a:cs typeface="Oswald"/>
                <a:sym typeface="Oswald"/>
              </a:rPr>
              <a:t>Orange marks predominate in this high-performing zone, highlighting that remote/WFH availability heavily supports top-tier employee sentiment.</a:t>
            </a:r>
            <a:endParaRPr sz="2200">
              <a:solidFill>
                <a:schemeClr val="dk1"/>
              </a:solidFill>
              <a:latin typeface="Oswald"/>
              <a:ea typeface="Oswald"/>
              <a:cs typeface="Oswald"/>
              <a:sym typeface="Oswald"/>
            </a:endParaRPr>
          </a:p>
          <a:p>
            <a:pPr indent="-368300" lvl="0" marL="457200" rtl="0" algn="l">
              <a:spcBef>
                <a:spcPts val="0"/>
              </a:spcBef>
              <a:spcAft>
                <a:spcPts val="0"/>
              </a:spcAft>
              <a:buClr>
                <a:schemeClr val="dk1"/>
              </a:buClr>
              <a:buSzPts val="2200"/>
              <a:buFont typeface="Oswald"/>
              <a:buChar char="●"/>
            </a:pPr>
            <a:r>
              <a:rPr b="1" lang="en-US" sz="2200">
                <a:solidFill>
                  <a:schemeClr val="dk1"/>
                </a:solidFill>
                <a:latin typeface="Oswald"/>
                <a:ea typeface="Oswald"/>
                <a:cs typeface="Oswald"/>
                <a:sym typeface="Oswald"/>
              </a:rPr>
              <a:t>High Satisfaction Despite Lower WLB (Top-Left Quadrant): </a:t>
            </a:r>
            <a:endParaRPr b="1" sz="2200">
              <a:solidFill>
                <a:schemeClr val="dk1"/>
              </a:solidFill>
              <a:latin typeface="Oswald"/>
              <a:ea typeface="Oswald"/>
              <a:cs typeface="Oswald"/>
              <a:sym typeface="Oswald"/>
            </a:endParaRPr>
          </a:p>
          <a:p>
            <a:pPr indent="-368300" lvl="1" marL="914400" rtl="0" algn="l">
              <a:spcBef>
                <a:spcPts val="0"/>
              </a:spcBef>
              <a:spcAft>
                <a:spcPts val="0"/>
              </a:spcAft>
              <a:buClr>
                <a:schemeClr val="dk1"/>
              </a:buClr>
              <a:buSzPts val="2200"/>
              <a:buFont typeface="Oswald"/>
              <a:buChar char="○"/>
            </a:pPr>
            <a:r>
              <a:rPr lang="en-US" sz="2200">
                <a:solidFill>
                  <a:schemeClr val="dk1"/>
                </a:solidFill>
                <a:latin typeface="Oswald"/>
                <a:ea typeface="Oswald"/>
                <a:cs typeface="Oswald"/>
                <a:sym typeface="Oswald"/>
              </a:rPr>
              <a:t>Several roles register high job satisfaction (7.6–7.9) despite lower work-life balance scores (&lt;6.50).</a:t>
            </a:r>
            <a:endParaRPr sz="2200">
              <a:solidFill>
                <a:schemeClr val="dk1"/>
              </a:solidFill>
              <a:latin typeface="Oswald"/>
              <a:ea typeface="Oswald"/>
              <a:cs typeface="Oswald"/>
              <a:sym typeface="Oswald"/>
            </a:endParaRPr>
          </a:p>
          <a:p>
            <a:pPr indent="-368300" lvl="1" marL="914400" rtl="0" algn="l">
              <a:spcBef>
                <a:spcPts val="0"/>
              </a:spcBef>
              <a:spcAft>
                <a:spcPts val="0"/>
              </a:spcAft>
              <a:buClr>
                <a:schemeClr val="dk1"/>
              </a:buClr>
              <a:buSzPts val="2200"/>
              <a:buFont typeface="Oswald"/>
              <a:buChar char="○"/>
            </a:pPr>
            <a:r>
              <a:rPr lang="en-US" sz="2200">
                <a:solidFill>
                  <a:schemeClr val="dk1"/>
                </a:solidFill>
                <a:latin typeface="Oswald"/>
                <a:ea typeface="Oswald"/>
                <a:cs typeface="Oswald"/>
                <a:sym typeface="Oswald"/>
              </a:rPr>
              <a:t>A mix of both WFH (Orange) and non-WFH (Blue) roles appear here, showing high job engagement can sometimes offset long hours.</a:t>
            </a:r>
            <a:endParaRPr sz="2200">
              <a:solidFill>
                <a:schemeClr val="dk1"/>
              </a:solidFill>
              <a:latin typeface="Oswald"/>
              <a:ea typeface="Oswald"/>
              <a:cs typeface="Oswald"/>
              <a:sym typeface="Oswald"/>
            </a:endParaRPr>
          </a:p>
          <a:p>
            <a:pPr indent="-368300" lvl="0" marL="457200" rtl="0" algn="l">
              <a:spcBef>
                <a:spcPts val="0"/>
              </a:spcBef>
              <a:spcAft>
                <a:spcPts val="0"/>
              </a:spcAft>
              <a:buClr>
                <a:schemeClr val="dk1"/>
              </a:buClr>
              <a:buSzPts val="2200"/>
              <a:buChar char="●"/>
            </a:pPr>
            <a:r>
              <a:rPr b="1" lang="en-US" sz="2200">
                <a:solidFill>
                  <a:schemeClr val="dk1"/>
                </a:solidFill>
                <a:latin typeface="Oswald"/>
                <a:ea typeface="Oswald"/>
                <a:cs typeface="Oswald"/>
                <a:sym typeface="Oswald"/>
              </a:rPr>
              <a:t>Low WLB &amp; Low Satisfaction Risk Zone (Bottom-Left Quadrant): </a:t>
            </a:r>
            <a:r>
              <a:rPr lang="en-US" sz="2200">
                <a:solidFill>
                  <a:schemeClr val="dk1"/>
                </a:solidFill>
                <a:latin typeface="Oswald"/>
                <a:ea typeface="Oswald"/>
                <a:cs typeface="Oswald"/>
                <a:sym typeface="Oswald"/>
              </a:rPr>
              <a:t>Roles clustering below both baselines (&lt;6.51 WLB, &lt;7.50 Satisfaction) reflect burnout and retention risks. Non-WFH (Blue) roles make up a noticeable share of this lower quadrant. </a:t>
            </a:r>
            <a:endParaRPr sz="2200">
              <a:solidFill>
                <a:schemeClr val="dk1"/>
              </a:solidFill>
              <a:latin typeface="Oswald"/>
              <a:ea typeface="Oswald"/>
              <a:cs typeface="Oswald"/>
              <a:sym typeface="Oswa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8" name="Shape 208"/>
        <p:cNvGrpSpPr/>
        <p:nvPr/>
      </p:nvGrpSpPr>
      <p:grpSpPr>
        <a:xfrm>
          <a:off x="0" y="0"/>
          <a:ext cx="0" cy="0"/>
          <a:chOff x="0" y="0"/>
          <a:chExt cx="0" cy="0"/>
        </a:xfrm>
      </p:grpSpPr>
      <p:pic>
        <p:nvPicPr>
          <p:cNvPr descr="10. Remote Work Flexibility by Industry &amp;amp; Company Size (Side-by-Side Bar Chart)" id="209" name="Google Shape;209;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3" name="Shape 213"/>
        <p:cNvGrpSpPr/>
        <p:nvPr/>
      </p:nvGrpSpPr>
      <p:grpSpPr>
        <a:xfrm>
          <a:off x="0" y="0"/>
          <a:ext cx="0" cy="0"/>
          <a:chOff x="0" y="0"/>
          <a:chExt cx="0" cy="0"/>
        </a:xfrm>
      </p:grpSpPr>
      <p:sp>
        <p:nvSpPr>
          <p:cNvPr id="214" name="Google Shape;214;h3130402f1d16313a_0_60"/>
          <p:cNvSpPr txBox="1"/>
          <p:nvPr/>
        </p:nvSpPr>
        <p:spPr>
          <a:xfrm>
            <a:off x="0" y="0"/>
            <a:ext cx="12192000" cy="67263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Higher Remote Flexibility in Small Companies:</a:t>
            </a:r>
            <a:r>
              <a:rPr lang="en-US" sz="2500">
                <a:solidFill>
                  <a:schemeClr val="dk1"/>
                </a:solidFill>
                <a:latin typeface="Oswald"/>
                <a:ea typeface="Oswald"/>
                <a:cs typeface="Oswald"/>
                <a:sym typeface="Oswald"/>
              </a:rPr>
              <a:t> Small firms (1–50 employees) achieve peak remote work averages across multiple sectors, reaching top values in Research &amp; Development (76.36%), Logistics (74.44%), Government (73.33%), and Finance (73.08%). </a:t>
            </a:r>
            <a:endParaRPr sz="2500">
              <a:solidFill>
                <a:schemeClr val="dk1"/>
              </a:solidFill>
              <a:latin typeface="Oswald"/>
              <a:ea typeface="Oswald"/>
              <a:cs typeface="Oswald"/>
              <a:sym typeface="Oswald"/>
            </a:endParaRPr>
          </a:p>
          <a:p>
            <a:pPr indent="-387350" lvl="0" marL="457200" rtl="0" algn="l">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Enterprise-Level Remote Flexibility Variations:</a:t>
            </a:r>
            <a:r>
              <a:rPr lang="en-US" sz="2500">
                <a:solidFill>
                  <a:schemeClr val="dk1"/>
                </a:solidFill>
                <a:latin typeface="Oswald"/>
                <a:ea typeface="Oswald"/>
                <a:cs typeface="Oswald"/>
                <a:sym typeface="Oswald"/>
              </a:rPr>
              <a:t> Enterprise firms (5000+ employees) show strong remote adoption in Healthcare (66.86%), Telecommunications (66.67%), and Banking (66.22%), but dip lower in Education (49.52%), Energy (50.00%), and Technology (50.91%).</a:t>
            </a:r>
            <a:endParaRPr sz="2500">
              <a:solidFill>
                <a:schemeClr val="dk1"/>
              </a:solidFill>
              <a:latin typeface="Oswald"/>
              <a:ea typeface="Oswald"/>
              <a:cs typeface="Oswald"/>
              <a:sym typeface="Oswald"/>
            </a:endParaRPr>
          </a:p>
          <a:p>
            <a:pPr indent="-387350" lvl="0" marL="457200" rtl="0" algn="l">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Consistent Baseline Across Middle Market Tiers:</a:t>
            </a:r>
            <a:r>
              <a:rPr lang="en-US" sz="2500">
                <a:solidFill>
                  <a:schemeClr val="dk1"/>
                </a:solidFill>
                <a:latin typeface="Oswald"/>
                <a:ea typeface="Oswald"/>
                <a:cs typeface="Oswald"/>
                <a:sym typeface="Oswald"/>
              </a:rPr>
              <a:t> Large (501–5000) and Medium (51–500) companies maintain relatively stable remote work averages, mostly clustering between 50% and 65% across all industries.</a:t>
            </a:r>
            <a:endParaRPr sz="2500">
              <a:solidFill>
                <a:schemeClr val="dk1"/>
              </a:solidFill>
              <a:latin typeface="Oswald"/>
              <a:ea typeface="Oswald"/>
              <a:cs typeface="Oswald"/>
              <a:sym typeface="Oswald"/>
            </a:endParaRPr>
          </a:p>
          <a:p>
            <a:pPr indent="-387350" lvl="0" marL="457200" rtl="0" algn="l">
              <a:spcBef>
                <a:spcPts val="0"/>
              </a:spcBef>
              <a:spcAft>
                <a:spcPts val="0"/>
              </a:spcAft>
              <a:buClr>
                <a:schemeClr val="dk1"/>
              </a:buClr>
              <a:buSzPts val="2500"/>
              <a:buFont typeface="Oswald"/>
              <a:buChar char="●"/>
            </a:pPr>
            <a:r>
              <a:rPr b="1" lang="en-US" sz="2500">
                <a:solidFill>
                  <a:schemeClr val="dk1"/>
                </a:solidFill>
                <a:latin typeface="Oswald"/>
                <a:ea typeface="Oswald"/>
                <a:cs typeface="Oswald"/>
                <a:sym typeface="Oswald"/>
              </a:rPr>
              <a:t>Industry-Specific Agility Gaps:</a:t>
            </a:r>
            <a:endParaRPr b="1" sz="2500">
              <a:solidFill>
                <a:schemeClr val="dk1"/>
              </a:solidFill>
              <a:latin typeface="Oswald"/>
              <a:ea typeface="Oswald"/>
              <a:cs typeface="Oswald"/>
              <a:sym typeface="Oswald"/>
            </a:endParaRPr>
          </a:p>
          <a:p>
            <a:pPr indent="-387350" lvl="1" marL="914400" rtl="0" algn="l">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Logistics &amp; Research &amp; Development:</a:t>
            </a:r>
            <a:r>
              <a:rPr lang="en-US" sz="2500">
                <a:solidFill>
                  <a:schemeClr val="dk1"/>
                </a:solidFill>
                <a:latin typeface="Oswald"/>
                <a:ea typeface="Oswald"/>
                <a:cs typeface="Oswald"/>
                <a:sym typeface="Oswald"/>
              </a:rPr>
              <a:t> Display the largest agility gap, jumping from ~55%–60% remote work in Enterprise/Large environments to ~74%–76% in Small startups.</a:t>
            </a:r>
            <a:endParaRPr sz="2500">
              <a:solidFill>
                <a:schemeClr val="dk1"/>
              </a:solidFill>
              <a:latin typeface="Oswald"/>
              <a:ea typeface="Oswald"/>
              <a:cs typeface="Oswald"/>
              <a:sym typeface="Oswald"/>
            </a:endParaRPr>
          </a:p>
          <a:p>
            <a:pPr indent="-387350" lvl="1" marL="914400" rtl="0" algn="l">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Retail:</a:t>
            </a:r>
            <a:r>
              <a:rPr lang="en-US" sz="2500">
                <a:solidFill>
                  <a:schemeClr val="dk1"/>
                </a:solidFill>
                <a:latin typeface="Oswald"/>
                <a:ea typeface="Oswald"/>
                <a:cs typeface="Oswald"/>
                <a:sym typeface="Oswald"/>
              </a:rPr>
              <a:t> Shows an inverted trend, where Enterprise firms average 63.60% remote work while Small firms lag at 49.33%.</a:t>
            </a:r>
            <a:endParaRPr sz="2500">
              <a:solidFill>
                <a:schemeClr val="dk1"/>
              </a:solidFill>
              <a:latin typeface="Oswald"/>
              <a:ea typeface="Oswald"/>
              <a:cs typeface="Oswald"/>
              <a:sym typeface="Oswald"/>
            </a:endParaRPr>
          </a:p>
          <a:p>
            <a:pPr indent="-387350" lvl="0" marL="457200" rtl="0" algn="l">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Narrow Overall Range Across Scale:</a:t>
            </a:r>
            <a:r>
              <a:rPr lang="en-US" sz="2500">
                <a:solidFill>
                  <a:schemeClr val="dk1"/>
                </a:solidFill>
                <a:latin typeface="Oswald"/>
                <a:ea typeface="Oswald"/>
                <a:cs typeface="Oswald"/>
                <a:sym typeface="Oswald"/>
              </a:rPr>
              <a:t> Average remote work percentages across all industry/size combinations range from a low of 48.00% (Real Estate, Medium) to a high of 76.36% (Research &amp; Development, Small).</a:t>
            </a:r>
            <a:endParaRPr sz="2500">
              <a:solidFill>
                <a:schemeClr val="dk1"/>
              </a:solidFill>
              <a:latin typeface="Oswald"/>
              <a:ea typeface="Oswald"/>
              <a:cs typeface="Oswald"/>
              <a:sym typeface="Oswa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8" name="Shape 218"/>
        <p:cNvGrpSpPr/>
        <p:nvPr/>
      </p:nvGrpSpPr>
      <p:grpSpPr>
        <a:xfrm>
          <a:off x="0" y="0"/>
          <a:ext cx="0" cy="0"/>
          <a:chOff x="0" y="0"/>
          <a:chExt cx="0" cy="0"/>
        </a:xfrm>
      </p:grpSpPr>
      <p:pic>
        <p:nvPicPr>
          <p:cNvPr descr="Remote Work &amp;amp; Workplace Culture" id="219" name="Google Shape;219;p15"/>
          <p:cNvPicPr preferRelativeResize="0"/>
          <p:nvPr/>
        </p:nvPicPr>
        <p:blipFill rotWithShape="1">
          <a:blip r:embed="rId3">
            <a:alphaModFix/>
          </a:blip>
          <a:srcRect b="0" l="0" r="0" t="0"/>
          <a:stretch/>
        </p:blipFill>
        <p:spPr>
          <a:xfrm>
            <a:off x="1809750" y="-68125"/>
            <a:ext cx="8572500" cy="69990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3" name="Shape 223"/>
        <p:cNvGrpSpPr/>
        <p:nvPr/>
      </p:nvGrpSpPr>
      <p:grpSpPr>
        <a:xfrm>
          <a:off x="0" y="0"/>
          <a:ext cx="0" cy="0"/>
          <a:chOff x="0" y="0"/>
          <a:chExt cx="0" cy="0"/>
        </a:xfrm>
      </p:grpSpPr>
      <p:sp>
        <p:nvSpPr>
          <p:cNvPr id="224" name="Google Shape;224;h3130402f1d16313a_0_65"/>
          <p:cNvSpPr txBox="1"/>
          <p:nvPr/>
        </p:nvSpPr>
        <p:spPr>
          <a:xfrm>
            <a:off x="0" y="0"/>
            <a:ext cx="12192000" cy="65340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Remote Policy as a Primary Engagement Driver:</a:t>
            </a:r>
            <a:r>
              <a:rPr lang="en-US" sz="2500">
                <a:solidFill>
                  <a:schemeClr val="dk1"/>
                </a:solidFill>
                <a:latin typeface="Oswald"/>
                <a:ea typeface="Oswald"/>
                <a:cs typeface="Oswald"/>
                <a:sym typeface="Oswald"/>
              </a:rPr>
              <a:t> Employee satisfaction in AI roles is directly anchored to workplace flexibility. Roles offering Work-From-Home (WFH) options achieve higher average remote work rates (up to 76.30%) and cluster heavily in top-tier job satisfaction zones (&gt;7.50 rating). </a:t>
            </a:r>
            <a:endParaRPr sz="2500">
              <a:solidFill>
                <a:schemeClr val="dk1"/>
              </a:solidFill>
              <a:latin typeface="Oswald"/>
              <a:ea typeface="Oswald"/>
              <a:cs typeface="Oswald"/>
              <a:sym typeface="Oswald"/>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Scale-Driven Remote Work Agility:</a:t>
            </a:r>
            <a:r>
              <a:rPr lang="en-US" sz="2500">
                <a:solidFill>
                  <a:schemeClr val="dk1"/>
                </a:solidFill>
                <a:latin typeface="Oswald"/>
                <a:ea typeface="Oswald"/>
                <a:cs typeface="Oswald"/>
                <a:sym typeface="Oswald"/>
              </a:rPr>
              <a:t> Remote work adoption varies significantly across company size tiers, ranging from 48.00% (Medium Real Estate) to 76.36% (Small R&amp;D). Small firms (1–50 employees) lead the market in offering flexible remote models across high-demand sectors like R&amp;D (76.36%), Logistics (74.44%), and Finance (73.08%).</a:t>
            </a:r>
            <a:endParaRPr sz="2500">
              <a:solidFill>
                <a:schemeClr val="dk1"/>
              </a:solidFill>
              <a:latin typeface="Oswald"/>
              <a:ea typeface="Oswald"/>
              <a:cs typeface="Oswald"/>
              <a:sym typeface="Oswald"/>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Enterprise Targeted Hybrid Strengths:</a:t>
            </a:r>
            <a:r>
              <a:rPr lang="en-US" sz="2500">
                <a:solidFill>
                  <a:schemeClr val="dk1"/>
                </a:solidFill>
                <a:latin typeface="Oswald"/>
                <a:ea typeface="Oswald"/>
                <a:cs typeface="Oswald"/>
                <a:sym typeface="Oswald"/>
              </a:rPr>
              <a:t> While small companies leverage remote flexibility for recruitment agility, Enterprise organizations (5000+ employees) maintain robust remote structures in security-sensitive or regulated sectors, including Healthcare (66.86%), Telecommunications (66.67%), and Banking (66.22%).</a:t>
            </a:r>
            <a:endParaRPr sz="2500">
              <a:solidFill>
                <a:schemeClr val="dk1"/>
              </a:solidFill>
              <a:latin typeface="Oswald"/>
              <a:ea typeface="Oswald"/>
              <a:cs typeface="Oswald"/>
              <a:sym typeface="Oswald"/>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Strategic Retention Takeaway:</a:t>
            </a:r>
            <a:r>
              <a:rPr lang="en-US" sz="2500">
                <a:solidFill>
                  <a:schemeClr val="dk1"/>
                </a:solidFill>
                <a:latin typeface="Oswald"/>
                <a:ea typeface="Oswald"/>
                <a:cs typeface="Oswald"/>
                <a:sym typeface="Oswald"/>
              </a:rPr>
              <a:t> To prevent burnout and reduce attrition risks—particularly in roles falling into lower satisfaction quadrants—organizations must align remote work policies with industry benchmarks, using flexible work arrangements as a key tool for employee retention.</a:t>
            </a:r>
            <a:endParaRPr sz="2500">
              <a:solidFill>
                <a:schemeClr val="dk1"/>
              </a:solidFill>
              <a:latin typeface="Oswald"/>
              <a:ea typeface="Oswald"/>
              <a:cs typeface="Oswald"/>
              <a:sym typeface="Oswa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8" name="Shape 228"/>
        <p:cNvGrpSpPr/>
        <p:nvPr/>
      </p:nvGrpSpPr>
      <p:grpSpPr>
        <a:xfrm>
          <a:off x="0" y="0"/>
          <a:ext cx="0" cy="0"/>
          <a:chOff x="0" y="0"/>
          <a:chExt cx="0" cy="0"/>
        </a:xfrm>
      </p:grpSpPr>
      <p:pic>
        <p:nvPicPr>
          <p:cNvPr descr="11. Gender Diversity Index across AI Specializations (Diverging Bar Chart)" id="229" name="Google Shape;229;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3" name="Shape 233"/>
        <p:cNvGrpSpPr/>
        <p:nvPr/>
      </p:nvGrpSpPr>
      <p:grpSpPr>
        <a:xfrm>
          <a:off x="0" y="0"/>
          <a:ext cx="0" cy="0"/>
          <a:chOff x="0" y="0"/>
          <a:chExt cx="0" cy="0"/>
        </a:xfrm>
      </p:grpSpPr>
      <p:sp>
        <p:nvSpPr>
          <p:cNvPr id="234" name="Google Shape;234;h3130402f1d16313a_0_70"/>
          <p:cNvSpPr txBox="1"/>
          <p:nvPr/>
        </p:nvSpPr>
        <p:spPr>
          <a:xfrm>
            <a:off x="0" y="0"/>
            <a:ext cx="12192000" cy="68343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Tight Female Representation Band (27%–32%):</a:t>
            </a:r>
            <a:r>
              <a:rPr lang="en-US" sz="2400">
                <a:solidFill>
                  <a:schemeClr val="dk1"/>
                </a:solidFill>
                <a:latin typeface="Oswald"/>
                <a:ea typeface="Oswald"/>
                <a:cs typeface="Oswald"/>
                <a:sym typeface="Oswald"/>
              </a:rPr>
              <a:t> Average female representation across all AI specializations and experience levels remains narrow, ranging between 27.666% and 31.640%.</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b="1" lang="en-US" sz="2400">
                <a:solidFill>
                  <a:schemeClr val="dk1"/>
                </a:solidFill>
                <a:latin typeface="Oswald"/>
                <a:ea typeface="Oswald"/>
                <a:cs typeface="Oswald"/>
                <a:sym typeface="Oswald"/>
              </a:rPr>
              <a:t>Consistent Executive Level Drop-Off (The "Leaky Pipeline"):</a:t>
            </a:r>
            <a:endParaRPr b="1" sz="2400">
              <a:solidFill>
                <a:schemeClr val="dk1"/>
              </a:solidFill>
              <a:latin typeface="Oswald"/>
              <a:ea typeface="Oswald"/>
              <a:cs typeface="Oswald"/>
              <a:sym typeface="Oswald"/>
            </a:endParaRPr>
          </a:p>
          <a:p>
            <a:pPr indent="-381000" lvl="1" marL="914400" rtl="0" algn="l">
              <a:spcBef>
                <a:spcPts val="0"/>
              </a:spcBef>
              <a:spcAft>
                <a:spcPts val="0"/>
              </a:spcAft>
              <a:buClr>
                <a:schemeClr val="dk1"/>
              </a:buClr>
              <a:buSzPts val="2400"/>
              <a:buChar char="○"/>
            </a:pPr>
            <a:r>
              <a:rPr lang="en-US" sz="2400">
                <a:solidFill>
                  <a:schemeClr val="dk1"/>
                </a:solidFill>
                <a:latin typeface="Oswald"/>
                <a:ea typeface="Oswald"/>
                <a:cs typeface="Oswald"/>
                <a:sym typeface="Oswald"/>
              </a:rPr>
              <a:t>Across almost every specialization, the Executive level (Blue bar) records the lowest or near-lowest female representation.</a:t>
            </a:r>
            <a:endParaRPr sz="2400">
              <a:solidFill>
                <a:schemeClr val="dk1"/>
              </a:solidFill>
              <a:latin typeface="Oswald"/>
              <a:ea typeface="Oswald"/>
              <a:cs typeface="Oswald"/>
              <a:sym typeface="Oswald"/>
            </a:endParaRPr>
          </a:p>
          <a:p>
            <a:pPr indent="-381000" lvl="1" marL="914400" rtl="0" algn="l">
              <a:spcBef>
                <a:spcPts val="0"/>
              </a:spcBef>
              <a:spcAft>
                <a:spcPts val="0"/>
              </a:spcAft>
              <a:buClr>
                <a:schemeClr val="dk1"/>
              </a:buClr>
              <a:buSzPts val="2400"/>
              <a:buChar char="○"/>
            </a:pPr>
            <a:r>
              <a:rPr lang="en-US" sz="2400">
                <a:solidFill>
                  <a:schemeClr val="dk1"/>
                </a:solidFill>
                <a:latin typeface="Oswald"/>
                <a:ea typeface="Oswald"/>
                <a:cs typeface="Oswald"/>
                <a:sym typeface="Oswald"/>
              </a:rPr>
              <a:t>Lowest executive percentages occur in Other (27.773%), Machine Learning (27.936%), and Generative AI (28.062%).</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Outlier at Executive Tier in Robotics:</a:t>
            </a:r>
            <a:r>
              <a:rPr lang="en-US" sz="2400">
                <a:solidFill>
                  <a:schemeClr val="dk1"/>
                </a:solidFill>
                <a:latin typeface="Oswald"/>
                <a:ea typeface="Oswald"/>
                <a:cs typeface="Oswald"/>
                <a:sym typeface="Oswald"/>
              </a:rPr>
              <a:t> Robotics stands out as the sole exception where the Executive level (31.189%) holds the highest female representation within its specialization group.</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b="1" lang="en-US" sz="2400">
                <a:solidFill>
                  <a:schemeClr val="dk1"/>
                </a:solidFill>
                <a:latin typeface="Oswald"/>
                <a:ea typeface="Oswald"/>
                <a:cs typeface="Oswald"/>
                <a:sym typeface="Oswald"/>
              </a:rPr>
              <a:t>Peak Representation in Lead &amp; Senior Tiers:</a:t>
            </a:r>
            <a:endParaRPr b="1" sz="2400">
              <a:solidFill>
                <a:schemeClr val="dk1"/>
              </a:solidFill>
              <a:latin typeface="Oswald"/>
              <a:ea typeface="Oswald"/>
              <a:cs typeface="Oswald"/>
              <a:sym typeface="Oswald"/>
            </a:endParaRPr>
          </a:p>
          <a:p>
            <a:pPr indent="-381000" lvl="1" marL="914400" rtl="0" algn="l">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Deep Learning (Lead Level):</a:t>
            </a:r>
            <a:r>
              <a:rPr lang="en-US" sz="2400">
                <a:solidFill>
                  <a:schemeClr val="dk1"/>
                </a:solidFill>
                <a:latin typeface="Oswald"/>
                <a:ea typeface="Oswald"/>
                <a:cs typeface="Oswald"/>
                <a:sym typeface="Oswald"/>
              </a:rPr>
              <a:t> Commands the highest female representation across the entire matrix at 31.640%.</a:t>
            </a:r>
            <a:endParaRPr sz="2400">
              <a:solidFill>
                <a:schemeClr val="dk1"/>
              </a:solidFill>
              <a:latin typeface="Oswald"/>
              <a:ea typeface="Oswald"/>
              <a:cs typeface="Oswald"/>
              <a:sym typeface="Oswald"/>
            </a:endParaRPr>
          </a:p>
          <a:p>
            <a:pPr indent="-381000" lvl="1" marL="914400" rtl="0" algn="l">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Reinforcement Learning (Lead Level):</a:t>
            </a:r>
            <a:r>
              <a:rPr lang="en-US" sz="2400">
                <a:solidFill>
                  <a:schemeClr val="dk1"/>
                </a:solidFill>
                <a:latin typeface="Oswald"/>
                <a:ea typeface="Oswald"/>
                <a:cs typeface="Oswald"/>
                <a:sym typeface="Oswald"/>
              </a:rPr>
              <a:t> Follows closely at 31.178%.</a:t>
            </a:r>
            <a:endParaRPr sz="2400">
              <a:solidFill>
                <a:schemeClr val="dk1"/>
              </a:solidFill>
              <a:latin typeface="Oswald"/>
              <a:ea typeface="Oswald"/>
              <a:cs typeface="Oswald"/>
              <a:sym typeface="Oswald"/>
            </a:endParaRPr>
          </a:p>
          <a:p>
            <a:pPr indent="-381000" lvl="1" marL="914400" rtl="0" algn="l">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Robotics (Senior Level):</a:t>
            </a:r>
            <a:r>
              <a:rPr lang="en-US" sz="2400">
                <a:solidFill>
                  <a:schemeClr val="dk1"/>
                </a:solidFill>
                <a:latin typeface="Oswald"/>
                <a:ea typeface="Oswald"/>
                <a:cs typeface="Oswald"/>
                <a:sym typeface="Oswald"/>
              </a:rPr>
              <a:t> Achieves 31.240%.</a:t>
            </a:r>
            <a:endParaRPr sz="2400">
              <a:solidFill>
                <a:schemeClr val="dk1"/>
              </a:solidFill>
              <a:latin typeface="Oswald"/>
              <a:ea typeface="Oswald"/>
              <a:cs typeface="Oswald"/>
              <a:sym typeface="Oswald"/>
            </a:endParaRPr>
          </a:p>
          <a:p>
            <a:pPr indent="-381000" lvl="0" marL="457200" rtl="0" algn="l">
              <a:spcBef>
                <a:spcPts val="0"/>
              </a:spcBef>
              <a:spcAft>
                <a:spcPts val="0"/>
              </a:spcAft>
              <a:buClr>
                <a:schemeClr val="dk1"/>
              </a:buClr>
              <a:buSzPts val="2400"/>
              <a:buFont typeface="Oswald"/>
              <a:buChar char="●"/>
            </a:pPr>
            <a:r>
              <a:rPr b="1" lang="en-US" sz="2400">
                <a:solidFill>
                  <a:schemeClr val="dk1"/>
                </a:solidFill>
                <a:latin typeface="Oswald"/>
                <a:ea typeface="Oswald"/>
                <a:cs typeface="Oswald"/>
                <a:sym typeface="Oswald"/>
              </a:rPr>
              <a:t>Specialization Highlights: </a:t>
            </a:r>
            <a:endParaRPr b="1" sz="2400">
              <a:solidFill>
                <a:schemeClr val="dk1"/>
              </a:solidFill>
              <a:latin typeface="Oswald"/>
              <a:ea typeface="Oswald"/>
              <a:cs typeface="Oswald"/>
              <a:sym typeface="Oswald"/>
            </a:endParaRPr>
          </a:p>
          <a:p>
            <a:pPr indent="-381000" lvl="1" marL="914400" rtl="0" algn="l">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Computer Vision:</a:t>
            </a:r>
            <a:r>
              <a:rPr lang="en-US" sz="2400">
                <a:solidFill>
                  <a:schemeClr val="dk1"/>
                </a:solidFill>
                <a:latin typeface="Oswald"/>
                <a:ea typeface="Oswald"/>
                <a:cs typeface="Oswald"/>
                <a:sym typeface="Oswald"/>
              </a:rPr>
              <a:t> Shows flat representation across tiers, peaking at Entry Level (30.632%) and dipping at Executive Level (28.789%).</a:t>
            </a:r>
            <a:endParaRPr sz="2400">
              <a:solidFill>
                <a:schemeClr val="dk1"/>
              </a:solidFill>
              <a:latin typeface="Oswald"/>
              <a:ea typeface="Oswald"/>
              <a:cs typeface="Oswald"/>
              <a:sym typeface="Oswald"/>
            </a:endParaRPr>
          </a:p>
          <a:p>
            <a:pPr indent="-381000" lvl="1" marL="914400" rtl="0" algn="l">
              <a:spcBef>
                <a:spcPts val="0"/>
              </a:spcBef>
              <a:spcAft>
                <a:spcPts val="0"/>
              </a:spcAft>
              <a:buClr>
                <a:schemeClr val="dk1"/>
              </a:buClr>
              <a:buSzPts val="2400"/>
              <a:buChar char="○"/>
            </a:pPr>
            <a:r>
              <a:rPr lang="en-US" sz="2400">
                <a:solidFill>
                  <a:schemeClr val="dk1"/>
                </a:solidFill>
                <a:latin typeface="Oswald"/>
                <a:ea typeface="Oswald"/>
                <a:cs typeface="Oswald"/>
                <a:sym typeface="Oswald"/>
              </a:rPr>
              <a:t>NLP: Peaks at Lead Level (30.686%) and Entry Level (30.698%).</a:t>
            </a:r>
            <a:endParaRPr sz="2400">
              <a:solidFill>
                <a:schemeClr val="dk1"/>
              </a:solidFill>
              <a:latin typeface="Oswald"/>
              <a:ea typeface="Oswald"/>
              <a:cs typeface="Oswald"/>
              <a:sym typeface="Oswa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8" name="Shape 238"/>
        <p:cNvGrpSpPr/>
        <p:nvPr/>
      </p:nvGrpSpPr>
      <p:grpSpPr>
        <a:xfrm>
          <a:off x="0" y="0"/>
          <a:ext cx="0" cy="0"/>
          <a:chOff x="0" y="0"/>
          <a:chExt cx="0" cy="0"/>
        </a:xfrm>
      </p:grpSpPr>
      <p:pic>
        <p:nvPicPr>
          <p:cNvPr descr="12. Diversity vs. Company Maturity &amp;amp; Investment (Scatter Plot)" id="239" name="Google Shape;239;p17"/>
          <p:cNvPicPr preferRelativeResize="0"/>
          <p:nvPr/>
        </p:nvPicPr>
        <p:blipFill rotWithShape="1">
          <a:blip r:embed="rId3">
            <a:alphaModFix/>
          </a:blip>
          <a:srcRect b="0" l="0" r="0" t="0"/>
          <a:stretch/>
        </p:blipFill>
        <p:spPr>
          <a:xfrm>
            <a:off x="0" y="23121"/>
            <a:ext cx="12192000" cy="681175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3" name="Shape 243"/>
        <p:cNvGrpSpPr/>
        <p:nvPr/>
      </p:nvGrpSpPr>
      <p:grpSpPr>
        <a:xfrm>
          <a:off x="0" y="0"/>
          <a:ext cx="0" cy="0"/>
          <a:chOff x="0" y="0"/>
          <a:chExt cx="0" cy="0"/>
        </a:xfrm>
      </p:grpSpPr>
      <p:sp>
        <p:nvSpPr>
          <p:cNvPr id="244" name="Google Shape;244;h3130402f1d16313a_0_75"/>
          <p:cNvSpPr txBox="1"/>
          <p:nvPr/>
        </p:nvSpPr>
        <p:spPr>
          <a:xfrm>
            <a:off x="0" y="0"/>
            <a:ext cx="12192000" cy="6811200"/>
          </a:xfrm>
          <a:prstGeom prst="rect">
            <a:avLst/>
          </a:prstGeom>
          <a:noFill/>
          <a:ln>
            <a:noFill/>
          </a:ln>
        </p:spPr>
        <p:txBody>
          <a:bodyPr anchorCtr="0" anchor="t" bIns="91425" lIns="91425" spcFirstLastPara="1" rIns="91425" wrap="square" tIns="91425">
            <a:spAutoFit/>
          </a:bodyPr>
          <a:lstStyle/>
          <a:p>
            <a:pPr indent="-419100" lvl="0" marL="457200" rtl="0" algn="l">
              <a:spcBef>
                <a:spcPts val="0"/>
              </a:spcBef>
              <a:spcAft>
                <a:spcPts val="0"/>
              </a:spcAft>
              <a:buClr>
                <a:schemeClr val="dk1"/>
              </a:buClr>
              <a:buSzPts val="3000"/>
              <a:buChar char="●"/>
            </a:pPr>
            <a:r>
              <a:rPr b="1" lang="en-US" sz="3000">
                <a:solidFill>
                  <a:schemeClr val="dk1"/>
                </a:solidFill>
                <a:latin typeface="Oswald"/>
                <a:ea typeface="Oswald"/>
                <a:cs typeface="Oswald"/>
                <a:sym typeface="Oswald"/>
              </a:rPr>
              <a:t>Flat Linear Trend Line:</a:t>
            </a:r>
            <a:r>
              <a:rPr lang="en-US" sz="3000">
                <a:solidFill>
                  <a:schemeClr val="dk1"/>
                </a:solidFill>
                <a:latin typeface="Oswald"/>
                <a:ea typeface="Oswald"/>
                <a:cs typeface="Oswald"/>
                <a:sym typeface="Oswald"/>
              </a:rPr>
              <a:t> The trend line across investment volume is virtually horizontal, demonstrating that higher corporate AI investment does not drive higher gender diversity.</a:t>
            </a:r>
            <a:endParaRPr sz="3000">
              <a:solidFill>
                <a:schemeClr val="dk1"/>
              </a:solidFill>
              <a:latin typeface="Oswald"/>
              <a:ea typeface="Oswald"/>
              <a:cs typeface="Oswald"/>
              <a:sym typeface="Oswald"/>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Oswald"/>
                <a:ea typeface="Oswald"/>
                <a:cs typeface="Oswald"/>
                <a:sym typeface="Oswald"/>
              </a:rPr>
              <a:t>Consistent Baseline Diversity Score:</a:t>
            </a:r>
            <a:r>
              <a:rPr lang="en-US" sz="3000">
                <a:solidFill>
                  <a:schemeClr val="dk1"/>
                </a:solidFill>
                <a:latin typeface="Oswald"/>
                <a:ea typeface="Oswald"/>
                <a:cs typeface="Oswald"/>
                <a:sym typeface="Oswald"/>
              </a:rPr>
              <a:t> Average female representation across companies clusters tightly around the 30% mark (ranging roughly between 28% and 32%) regardless of investment scale.</a:t>
            </a:r>
            <a:endParaRPr sz="3000">
              <a:solidFill>
                <a:schemeClr val="dk1"/>
              </a:solidFill>
              <a:latin typeface="Oswald"/>
              <a:ea typeface="Oswald"/>
              <a:cs typeface="Oswald"/>
              <a:sym typeface="Oswald"/>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Oswald"/>
                <a:ea typeface="Oswald"/>
                <a:cs typeface="Oswald"/>
                <a:sym typeface="Oswald"/>
              </a:rPr>
              <a:t>Wide Range of Investment Capital:</a:t>
            </a:r>
            <a:r>
              <a:rPr lang="en-US" sz="3000">
                <a:solidFill>
                  <a:schemeClr val="dk1"/>
                </a:solidFill>
                <a:latin typeface="Oswald"/>
                <a:ea typeface="Oswald"/>
                <a:cs typeface="Oswald"/>
                <a:sym typeface="Oswald"/>
              </a:rPr>
              <a:t> Company AI investment spans from $15,000 Million to over $27,000 Million, yet gender diversity metrics remain static across both low and high spenders.</a:t>
            </a:r>
            <a:endParaRPr sz="3000">
              <a:solidFill>
                <a:schemeClr val="dk1"/>
              </a:solidFill>
              <a:latin typeface="Oswald"/>
              <a:ea typeface="Oswald"/>
              <a:cs typeface="Oswald"/>
              <a:sym typeface="Oswald"/>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Oswald"/>
                <a:ea typeface="Oswald"/>
                <a:cs typeface="Oswald"/>
                <a:sym typeface="Oswald"/>
              </a:rPr>
              <a:t>Maturity Score Impact (Color Gradient):</a:t>
            </a:r>
            <a:r>
              <a:rPr lang="en-US" sz="3000">
                <a:solidFill>
                  <a:schemeClr val="dk1"/>
                </a:solidFill>
                <a:latin typeface="Oswald"/>
                <a:ea typeface="Oswald"/>
                <a:cs typeface="Oswald"/>
                <a:sym typeface="Oswald"/>
              </a:rPr>
              <a:t> Company AI maturity scores range from 385.1 to 623.1. High maturity companies (darker blue circles) are distributed evenly across all diversity levels, confirming that AI operational maturity also fails to move the needle on gender parity.</a:t>
            </a:r>
            <a:endParaRPr sz="3000">
              <a:solidFill>
                <a:schemeClr val="dk1"/>
              </a:solidFill>
              <a:latin typeface="Oswald"/>
              <a:ea typeface="Oswald"/>
              <a:cs typeface="Oswald"/>
              <a:sym typeface="Oswa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8" name="Shape 248"/>
        <p:cNvGrpSpPr/>
        <p:nvPr/>
      </p:nvGrpSpPr>
      <p:grpSpPr>
        <a:xfrm>
          <a:off x="0" y="0"/>
          <a:ext cx="0" cy="0"/>
          <a:chOff x="0" y="0"/>
          <a:chExt cx="0" cy="0"/>
        </a:xfrm>
      </p:grpSpPr>
      <p:pic>
        <p:nvPicPr>
          <p:cNvPr descr="Diversity, Inclusion &amp;amp; Demographics" id="249" name="Google Shape;249;p18"/>
          <p:cNvPicPr preferRelativeResize="0"/>
          <p:nvPr/>
        </p:nvPicPr>
        <p:blipFill rotWithShape="1">
          <a:blip r:embed="rId3">
            <a:alphaModFix/>
          </a:blip>
          <a:srcRect b="0" l="0" r="0" t="0"/>
          <a:stretch/>
        </p:blipFill>
        <p:spPr>
          <a:xfrm>
            <a:off x="1809750" y="-68125"/>
            <a:ext cx="8572500" cy="69990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3" name="Shape 253"/>
        <p:cNvGrpSpPr/>
        <p:nvPr/>
      </p:nvGrpSpPr>
      <p:grpSpPr>
        <a:xfrm>
          <a:off x="0" y="0"/>
          <a:ext cx="0" cy="0"/>
          <a:chOff x="0" y="0"/>
          <a:chExt cx="0" cy="0"/>
        </a:xfrm>
      </p:grpSpPr>
      <p:sp>
        <p:nvSpPr>
          <p:cNvPr id="254" name="Google Shape;254;h3130402f1d16313a_0_80"/>
          <p:cNvSpPr txBox="1"/>
          <p:nvPr/>
        </p:nvSpPr>
        <p:spPr>
          <a:xfrm>
            <a:off x="0" y="0"/>
            <a:ext cx="12192000" cy="6988200"/>
          </a:xfrm>
          <a:prstGeom prst="rect">
            <a:avLst/>
          </a:prstGeom>
          <a:noFill/>
          <a:ln>
            <a:noFill/>
          </a:ln>
        </p:spPr>
        <p:txBody>
          <a:bodyPr anchorCtr="0" anchor="t" bIns="91425" lIns="91425" spcFirstLastPara="1" rIns="91425" wrap="square" tIns="91425">
            <a:spAutoFit/>
          </a:bodyPr>
          <a:lstStyle/>
          <a:p>
            <a:pPr indent="-393700" lvl="0" marL="457200" rtl="0" algn="l">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Systemic Parity Ceiling (~30% Baseline):</a:t>
            </a:r>
            <a:r>
              <a:rPr lang="en-US" sz="2600">
                <a:solidFill>
                  <a:schemeClr val="dk1"/>
                </a:solidFill>
                <a:latin typeface="Oswald"/>
                <a:ea typeface="Oswald"/>
                <a:cs typeface="Oswald"/>
                <a:sym typeface="Oswald"/>
              </a:rPr>
              <a:t> Across both individual AI specializations and corporate investment scales, female representation remains tightly constrained within a 28% to 32% window. Structural workforce imbalances are industry-wide and resistant to passive organizational scaling. </a:t>
            </a:r>
            <a:endParaRPr sz="2600">
              <a:solidFill>
                <a:schemeClr val="dk1"/>
              </a:solidFill>
              <a:latin typeface="Oswald"/>
              <a:ea typeface="Oswald"/>
              <a:cs typeface="Oswald"/>
              <a:sym typeface="Oswald"/>
            </a:endParaRPr>
          </a:p>
          <a:p>
            <a:pPr indent="-393700" lvl="0" marL="457200" rtl="0" algn="l">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Capital &amp; Maturity Ineffectiveness:</a:t>
            </a:r>
            <a:r>
              <a:rPr lang="en-US" sz="2600">
                <a:solidFill>
                  <a:schemeClr val="dk1"/>
                </a:solidFill>
                <a:latin typeface="Oswald"/>
                <a:ea typeface="Oswald"/>
                <a:cs typeface="Oswald"/>
                <a:sym typeface="Oswald"/>
              </a:rPr>
              <a:t> Financial backing (scaling up to $27B+ in investment) and advanced technological maturity (scores up to 623.1) fail to improve gender diversity metrics. Neither capital deployment nor technical sophistication inherently resolves representation gaps.</a:t>
            </a:r>
            <a:endParaRPr sz="2600">
              <a:solidFill>
                <a:schemeClr val="dk1"/>
              </a:solidFill>
              <a:latin typeface="Oswald"/>
              <a:ea typeface="Oswald"/>
              <a:cs typeface="Oswald"/>
              <a:sym typeface="Oswald"/>
            </a:endParaRPr>
          </a:p>
          <a:p>
            <a:pPr indent="-393700" lvl="0" marL="457200" rtl="0" algn="l">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The Leadership "Leaky Pipeline":</a:t>
            </a:r>
            <a:r>
              <a:rPr lang="en-US" sz="2600">
                <a:solidFill>
                  <a:schemeClr val="dk1"/>
                </a:solidFill>
                <a:latin typeface="Oswald"/>
                <a:ea typeface="Oswald"/>
                <a:cs typeface="Oswald"/>
                <a:sym typeface="Oswald"/>
              </a:rPr>
              <a:t> Gender imbalances worsen along career progression pathways. Female representation consistently drops at the Executive tier across major specializations like Machine Learning (27.94%), Generative AI (28.06%), and Other AI sectors (27.77%), pointing to systemic friction in advancing female talent from lead/senior roles into C-suite positions.</a:t>
            </a:r>
            <a:endParaRPr sz="2600">
              <a:solidFill>
                <a:schemeClr val="dk1"/>
              </a:solidFill>
              <a:latin typeface="Oswald"/>
              <a:ea typeface="Oswald"/>
              <a:cs typeface="Oswald"/>
              <a:sym typeface="Oswald"/>
            </a:endParaRPr>
          </a:p>
          <a:p>
            <a:pPr indent="-393700" lvl="0" marL="457200" rtl="0" algn="l">
              <a:spcBef>
                <a:spcPts val="0"/>
              </a:spcBef>
              <a:spcAft>
                <a:spcPts val="0"/>
              </a:spcAft>
              <a:buClr>
                <a:schemeClr val="dk1"/>
              </a:buClr>
              <a:buSzPts val="2600"/>
              <a:buChar char="●"/>
            </a:pPr>
            <a:r>
              <a:rPr b="1" lang="en-US" sz="2600">
                <a:solidFill>
                  <a:schemeClr val="dk1"/>
                </a:solidFill>
                <a:latin typeface="Oswald"/>
                <a:ea typeface="Oswald"/>
                <a:cs typeface="Oswald"/>
                <a:sym typeface="Oswald"/>
              </a:rPr>
              <a:t>Strategic Diversity Imperative:</a:t>
            </a:r>
            <a:r>
              <a:rPr lang="en-US" sz="2600">
                <a:solidFill>
                  <a:schemeClr val="dk1"/>
                </a:solidFill>
                <a:latin typeface="Oswald"/>
                <a:ea typeface="Oswald"/>
                <a:cs typeface="Oswald"/>
                <a:sym typeface="Oswald"/>
              </a:rPr>
              <a:t> Because neither capital expansion nor operational AI growth solves the gender gap, leadership must replace passive hiring assumptions with active, structural DEI frameworks—targeting executive leadership pipelines and benchmarking against rare high-performing sectors like Robotics (where female executive representation reaches 31.19%).</a:t>
            </a:r>
            <a:endParaRPr sz="2600">
              <a:solidFill>
                <a:schemeClr val="dk1"/>
              </a:solidFill>
              <a:latin typeface="Oswald"/>
              <a:ea typeface="Oswald"/>
              <a:cs typeface="Oswald"/>
              <a:sym typeface="Oswa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8" name="Shape 258"/>
        <p:cNvGrpSpPr/>
        <p:nvPr/>
      </p:nvGrpSpPr>
      <p:grpSpPr>
        <a:xfrm>
          <a:off x="0" y="0"/>
          <a:ext cx="0" cy="0"/>
          <a:chOff x="0" y="0"/>
          <a:chExt cx="0" cy="0"/>
        </a:xfrm>
      </p:grpSpPr>
      <p:pic>
        <p:nvPicPr>
          <p:cNvPr descr="13. Job Posting Velocity &amp;amp; Recruitment Funnel (Area / Line Chart)" id="259" name="Google Shape;259;p19"/>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3" name="Shape 263"/>
        <p:cNvGrpSpPr/>
        <p:nvPr/>
      </p:nvGrpSpPr>
      <p:grpSpPr>
        <a:xfrm>
          <a:off x="0" y="0"/>
          <a:ext cx="0" cy="0"/>
          <a:chOff x="0" y="0"/>
          <a:chExt cx="0" cy="0"/>
        </a:xfrm>
      </p:grpSpPr>
      <p:sp>
        <p:nvSpPr>
          <p:cNvPr id="264" name="Google Shape;264;h3130402f1d16313a_0_85"/>
          <p:cNvSpPr txBox="1"/>
          <p:nvPr/>
        </p:nvSpPr>
        <p:spPr>
          <a:xfrm>
            <a:off x="0" y="0"/>
            <a:ext cx="12192000" cy="69264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Dominance of Full-Time Employment (Red Area):</a:t>
            </a:r>
            <a:r>
              <a:rPr lang="en-US" sz="2400">
                <a:solidFill>
                  <a:schemeClr val="dk1"/>
                </a:solidFill>
                <a:latin typeface="Oswald"/>
                <a:ea typeface="Oswald"/>
                <a:cs typeface="Oswald"/>
                <a:sym typeface="Oswald"/>
              </a:rPr>
              <a:t> Full-time roles make up the vast majority of total AI job postings across the entire time horizon, maintaining a baseline volume of 20 to 28 job IDs per month.</a:t>
            </a:r>
            <a:endParaRPr sz="2400">
              <a:solidFill>
                <a:schemeClr val="dk1"/>
              </a:solidFill>
              <a:latin typeface="Oswald"/>
              <a:ea typeface="Oswald"/>
              <a:cs typeface="Oswald"/>
              <a:sym typeface="Oswald"/>
            </a:endParaRPr>
          </a:p>
          <a:p>
            <a:pPr indent="-381000" lvl="0" marL="457200" rtl="0" algn="l">
              <a:lnSpc>
                <a:spcPct val="115000"/>
              </a:lnSpc>
              <a:spcBef>
                <a:spcPts val="0"/>
              </a:spcBef>
              <a:spcAft>
                <a:spcPts val="0"/>
              </a:spcAft>
              <a:buClr>
                <a:schemeClr val="dk1"/>
              </a:buClr>
              <a:buSzPts val="2400"/>
              <a:buFont typeface="Oswald"/>
              <a:buChar char="●"/>
            </a:pPr>
            <a:r>
              <a:rPr b="1" lang="en-US" sz="2400">
                <a:solidFill>
                  <a:schemeClr val="dk1"/>
                </a:solidFill>
                <a:latin typeface="Oswald"/>
                <a:ea typeface="Oswald"/>
                <a:cs typeface="Oswald"/>
                <a:sym typeface="Oswald"/>
              </a:rPr>
              <a:t>Secondary Role Breakdown (Contract, Freelance, Part-Time):</a:t>
            </a:r>
            <a:endParaRPr b="1" sz="2400">
              <a:solidFill>
                <a:schemeClr val="dk1"/>
              </a:solidFill>
              <a:latin typeface="Oswald"/>
              <a:ea typeface="Oswald"/>
              <a:cs typeface="Oswald"/>
              <a:sym typeface="Oswald"/>
            </a:endParaRPr>
          </a:p>
          <a:p>
            <a:pPr indent="-381000" lvl="1" marL="914400" rtl="0" algn="l">
              <a:lnSpc>
                <a:spcPct val="115000"/>
              </a:lnSpc>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Contract Roles (Blue Area):</a:t>
            </a:r>
            <a:r>
              <a:rPr lang="en-US" sz="2400">
                <a:solidFill>
                  <a:schemeClr val="dk1"/>
                </a:solidFill>
                <a:latin typeface="Oswald"/>
                <a:ea typeface="Oswald"/>
                <a:cs typeface="Oswald"/>
                <a:sym typeface="Oswald"/>
              </a:rPr>
              <a:t> Form the second-largest segment, consistently filling top volume band shifts between 28 and 31 job IDs per month.</a:t>
            </a:r>
            <a:endParaRPr sz="2400">
              <a:solidFill>
                <a:schemeClr val="dk1"/>
              </a:solidFill>
              <a:latin typeface="Oswald"/>
              <a:ea typeface="Oswald"/>
              <a:cs typeface="Oswald"/>
              <a:sym typeface="Oswald"/>
            </a:endParaRPr>
          </a:p>
          <a:p>
            <a:pPr indent="-381000" lvl="1" marL="914400" rtl="0" algn="l">
              <a:lnSpc>
                <a:spcPct val="115000"/>
              </a:lnSpc>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Freelance Roles (Orange Area):</a:t>
            </a:r>
            <a:r>
              <a:rPr lang="en-US" sz="2400">
                <a:solidFill>
                  <a:schemeClr val="dk1"/>
                </a:solidFill>
                <a:latin typeface="Oswald"/>
                <a:ea typeface="Oswald"/>
                <a:cs typeface="Oswald"/>
                <a:sym typeface="Oswald"/>
              </a:rPr>
              <a:t> Form a thin, stable middle band between full-time and contract roles, accounting for 1 to 3 job IDs per month.</a:t>
            </a:r>
            <a:endParaRPr sz="2400">
              <a:solidFill>
                <a:schemeClr val="dk1"/>
              </a:solidFill>
              <a:latin typeface="Oswald"/>
              <a:ea typeface="Oswald"/>
              <a:cs typeface="Oswald"/>
              <a:sym typeface="Oswald"/>
            </a:endParaRPr>
          </a:p>
          <a:p>
            <a:pPr indent="-381000" lvl="1" marL="914400" rtl="0" algn="l">
              <a:lnSpc>
                <a:spcPct val="115000"/>
              </a:lnSpc>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Part-Time Roles (Green Line):</a:t>
            </a:r>
            <a:r>
              <a:rPr lang="en-US" sz="2400">
                <a:solidFill>
                  <a:schemeClr val="dk1"/>
                </a:solidFill>
                <a:latin typeface="Oswald"/>
                <a:ea typeface="Oswald"/>
                <a:cs typeface="Oswald"/>
                <a:sym typeface="Oswald"/>
              </a:rPr>
              <a:t> Represent a minor fraction along the bottom baseline, fluctuating between 0 and 7 job IDs per month with periodic spikes.</a:t>
            </a:r>
            <a:endParaRPr sz="2400">
              <a:solidFill>
                <a:schemeClr val="dk1"/>
              </a:solidFill>
              <a:latin typeface="Oswald"/>
              <a:ea typeface="Oswald"/>
              <a:cs typeface="Oswald"/>
              <a:sym typeface="Oswald"/>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Timeline Matching (Application Deadline vs. Posted Date):</a:t>
            </a:r>
            <a:r>
              <a:rPr lang="en-US" sz="2400">
                <a:solidFill>
                  <a:schemeClr val="dk1"/>
                </a:solidFill>
                <a:latin typeface="Oswald"/>
                <a:ea typeface="Oswald"/>
                <a:cs typeface="Oswald"/>
                <a:sym typeface="Oswald"/>
              </a:rPr>
              <a:t> The dual-panel view shows near-identical volume patterns across Month of Application Deadline (left) and Month of Posted Date (right), reflecting consistent posting-to-deadline cycle velocity across the multi-year forecast horizon.</a:t>
            </a:r>
            <a:endParaRPr sz="2400">
              <a:solidFill>
                <a:schemeClr val="dk1"/>
              </a:solidFill>
              <a:latin typeface="Oswald"/>
              <a:ea typeface="Oswald"/>
              <a:cs typeface="Oswald"/>
              <a:sym typeface="Oswald"/>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Oswald"/>
                <a:ea typeface="Oswald"/>
                <a:cs typeface="Oswald"/>
                <a:sym typeface="Oswald"/>
              </a:rPr>
              <a:t>Steady Volume Stability:</a:t>
            </a:r>
            <a:r>
              <a:rPr lang="en-US" sz="2400">
                <a:solidFill>
                  <a:schemeClr val="dk1"/>
                </a:solidFill>
                <a:latin typeface="Oswald"/>
                <a:ea typeface="Oswald"/>
                <a:cs typeface="Oswald"/>
                <a:sym typeface="Oswald"/>
              </a:rPr>
              <a:t> Total monthly job posting counts stay remarkably bounded within a tight band (28 to 31 total postings per month) over the long term, demonstrating steady, non-volatile talent acquisition pipelines.</a:t>
            </a:r>
            <a:endParaRPr sz="2400">
              <a:solidFill>
                <a:schemeClr val="dk1"/>
              </a:solidFill>
              <a:latin typeface="Oswald"/>
              <a:ea typeface="Oswald"/>
              <a:cs typeface="Oswald"/>
              <a:sym typeface="Oswa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8" name="Shape 268"/>
        <p:cNvGrpSpPr/>
        <p:nvPr/>
      </p:nvGrpSpPr>
      <p:grpSpPr>
        <a:xfrm>
          <a:off x="0" y="0"/>
          <a:ext cx="0" cy="0"/>
          <a:chOff x="0" y="0"/>
          <a:chExt cx="0" cy="0"/>
        </a:xfrm>
      </p:grpSpPr>
      <p:pic>
        <p:nvPicPr>
          <p:cNvPr descr="14. Application Time Window vs. Hiring Difficulty (Gantt / Dual Axis)" id="269" name="Google Shape;269;p20"/>
          <p:cNvPicPr preferRelativeResize="0"/>
          <p:nvPr/>
        </p:nvPicPr>
        <p:blipFill rotWithShape="1">
          <a:blip r:embed="rId3">
            <a:alphaModFix/>
          </a:blip>
          <a:srcRect b="0" l="0" r="0" t="0"/>
          <a:stretch/>
        </p:blipFill>
        <p:spPr>
          <a:xfrm>
            <a:off x="0" y="23121"/>
            <a:ext cx="12192000" cy="681175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3" name="Shape 273"/>
        <p:cNvGrpSpPr/>
        <p:nvPr/>
      </p:nvGrpSpPr>
      <p:grpSpPr>
        <a:xfrm>
          <a:off x="0" y="0"/>
          <a:ext cx="0" cy="0"/>
          <a:chOff x="0" y="0"/>
          <a:chExt cx="0" cy="0"/>
        </a:xfrm>
      </p:grpSpPr>
      <p:sp>
        <p:nvSpPr>
          <p:cNvPr id="274" name="Google Shape;274;h3130402f1d16313a_0_90"/>
          <p:cNvSpPr txBox="1"/>
          <p:nvPr/>
        </p:nvSpPr>
        <p:spPr>
          <a:xfrm>
            <a:off x="0" y="0"/>
            <a:ext cx="12192000" cy="67542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Oswald"/>
                <a:ea typeface="Oswald"/>
                <a:cs typeface="Oswald"/>
                <a:sym typeface="Oswald"/>
              </a:rPr>
              <a:t>Application Time Window Spectrum (Days Open):</a:t>
            </a:r>
            <a:r>
              <a:rPr lang="en-US" sz="2200">
                <a:solidFill>
                  <a:schemeClr val="dk1"/>
                </a:solidFill>
                <a:latin typeface="Oswald"/>
                <a:ea typeface="Oswald"/>
                <a:cs typeface="Oswald"/>
                <a:sym typeface="Oswald"/>
              </a:rPr>
              <a:t> Total days open across job titles spans from a minimum of 3,286 days (Data Scientist) up to a peak of 5,022 days (Prompt Engineer).</a:t>
            </a:r>
            <a:endParaRPr sz="2200">
              <a:solidFill>
                <a:schemeClr val="dk1"/>
              </a:solidFill>
              <a:latin typeface="Oswald"/>
              <a:ea typeface="Oswald"/>
              <a:cs typeface="Oswald"/>
              <a:sym typeface="Oswald"/>
            </a:endParaRPr>
          </a:p>
          <a:p>
            <a:pPr indent="-368300" lvl="0" marL="457200" rtl="0" algn="l">
              <a:lnSpc>
                <a:spcPct val="115000"/>
              </a:lnSpc>
              <a:spcBef>
                <a:spcPts val="0"/>
              </a:spcBef>
              <a:spcAft>
                <a:spcPts val="0"/>
              </a:spcAft>
              <a:buClr>
                <a:schemeClr val="dk1"/>
              </a:buClr>
              <a:buSzPts val="2200"/>
              <a:buFont typeface="Oswald"/>
              <a:buChar char="●"/>
            </a:pPr>
            <a:r>
              <a:rPr b="1" lang="en-US" sz="2200">
                <a:solidFill>
                  <a:schemeClr val="dk1"/>
                </a:solidFill>
                <a:latin typeface="Oswald"/>
                <a:ea typeface="Oswald"/>
                <a:cs typeface="Oswald"/>
                <a:sym typeface="Oswald"/>
              </a:rPr>
              <a:t>Direct Correlation Between Duration and Hiring Difficulty:</a:t>
            </a:r>
            <a:endParaRPr b="1" sz="2200">
              <a:solidFill>
                <a:schemeClr val="dk1"/>
              </a:solidFill>
              <a:latin typeface="Oswald"/>
              <a:ea typeface="Oswald"/>
              <a:cs typeface="Oswald"/>
              <a:sym typeface="Oswald"/>
            </a:endParaRPr>
          </a:p>
          <a:p>
            <a:pPr indent="-368300" lvl="1" marL="914400" rtl="0" algn="l">
              <a:lnSpc>
                <a:spcPct val="115000"/>
              </a:lnSpc>
              <a:spcBef>
                <a:spcPts val="0"/>
              </a:spcBef>
              <a:spcAft>
                <a:spcPts val="0"/>
              </a:spcAft>
              <a:buClr>
                <a:schemeClr val="dk1"/>
              </a:buClr>
              <a:buSzPts val="2200"/>
              <a:buChar char="○"/>
            </a:pPr>
            <a:r>
              <a:rPr b="1" lang="en-US" sz="2200">
                <a:solidFill>
                  <a:schemeClr val="dk1"/>
                </a:solidFill>
                <a:latin typeface="Oswald"/>
                <a:ea typeface="Oswald"/>
                <a:cs typeface="Oswald"/>
                <a:sym typeface="Oswald"/>
              </a:rPr>
              <a:t>High Difficulty / Extended Window (Dark Red Blocks):</a:t>
            </a:r>
            <a:r>
              <a:rPr lang="en-US" sz="2200">
                <a:solidFill>
                  <a:schemeClr val="dk1"/>
                </a:solidFill>
                <a:latin typeface="Oswald"/>
                <a:ea typeface="Oswald"/>
                <a:cs typeface="Oswald"/>
                <a:sym typeface="Oswald"/>
              </a:rPr>
              <a:t> Roles requiring the longest application time windows carry the highest hiring difficulty scores (~1,016.2). Key positions include Prompt Engineer (5,022 days), AI Infrastructure Engineer (4,960 days), AI Trainer (4,898 days), and Autonomous Vehicle Engineer (4,867 days).</a:t>
            </a:r>
            <a:endParaRPr sz="2200">
              <a:solidFill>
                <a:schemeClr val="dk1"/>
              </a:solidFill>
              <a:latin typeface="Oswald"/>
              <a:ea typeface="Oswald"/>
              <a:cs typeface="Oswald"/>
              <a:sym typeface="Oswald"/>
            </a:endParaRPr>
          </a:p>
          <a:p>
            <a:pPr indent="-368300" lvl="1" marL="914400" rtl="0" algn="l">
              <a:lnSpc>
                <a:spcPct val="115000"/>
              </a:lnSpc>
              <a:spcBef>
                <a:spcPts val="0"/>
              </a:spcBef>
              <a:spcAft>
                <a:spcPts val="0"/>
              </a:spcAft>
              <a:buClr>
                <a:schemeClr val="dk1"/>
              </a:buClr>
              <a:buSzPts val="2200"/>
              <a:buChar char="○"/>
            </a:pPr>
            <a:r>
              <a:rPr b="1" lang="en-US" sz="2200">
                <a:solidFill>
                  <a:schemeClr val="dk1"/>
                </a:solidFill>
                <a:latin typeface="Oswald"/>
                <a:ea typeface="Oswald"/>
                <a:cs typeface="Oswald"/>
                <a:sym typeface="Oswald"/>
              </a:rPr>
              <a:t>Low Difficulty / Shorter Window (Dark Green Blocks):</a:t>
            </a:r>
            <a:r>
              <a:rPr lang="en-US" sz="2200">
                <a:solidFill>
                  <a:schemeClr val="dk1"/>
                </a:solidFill>
                <a:latin typeface="Oswald"/>
                <a:ea typeface="Oswald"/>
                <a:cs typeface="Oswald"/>
                <a:sym typeface="Oswald"/>
              </a:rPr>
              <a:t> Roles with lower hiring difficulty scores (~668.3) are open for significantly shorter total durations, led by Data Scientist (3,286 days), AI Operations Manager (3,348 days), and Generative AI Engineer (3,503 days).</a:t>
            </a:r>
            <a:endParaRPr sz="2200">
              <a:solidFill>
                <a:schemeClr val="dk1"/>
              </a:solidFill>
              <a:latin typeface="Oswald"/>
              <a:ea typeface="Oswald"/>
              <a:cs typeface="Oswald"/>
              <a:sym typeface="Oswald"/>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Oswald"/>
                <a:ea typeface="Oswald"/>
                <a:cs typeface="Oswald"/>
                <a:sym typeface="Oswald"/>
              </a:rPr>
              <a:t>Moderate Time Horizon Clustering:</a:t>
            </a:r>
            <a:r>
              <a:rPr lang="en-US" sz="2200">
                <a:solidFill>
                  <a:schemeClr val="dk1"/>
                </a:solidFill>
                <a:latin typeface="Oswald"/>
                <a:ea typeface="Oswald"/>
                <a:cs typeface="Oswald"/>
                <a:sym typeface="Oswald"/>
              </a:rPr>
              <a:t> A majority of technical roles—including Data Analyst (3,875 days), AI Product Manager (3,999 days), Machine Learning Engineer (4,061 days), and AI/ML Architect (4,185 days)—cluster in the 3,800 to 4,200 days range with moderate-to-low difficulty scores (light green to light orange).</a:t>
            </a:r>
            <a:endParaRPr sz="2200">
              <a:solidFill>
                <a:schemeClr val="dk1"/>
              </a:solidFill>
              <a:latin typeface="Oswald"/>
              <a:ea typeface="Oswald"/>
              <a:cs typeface="Oswald"/>
              <a:sym typeface="Oswald"/>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Oswald"/>
                <a:ea typeface="Oswald"/>
                <a:cs typeface="Oswald"/>
                <a:sym typeface="Oswald"/>
              </a:rPr>
              <a:t>Research and Specialized Roles Baseline:</a:t>
            </a:r>
            <a:r>
              <a:rPr lang="en-US" sz="2200">
                <a:solidFill>
                  <a:schemeClr val="dk1"/>
                </a:solidFill>
                <a:latin typeface="Oswald"/>
                <a:ea typeface="Oswald"/>
                <a:cs typeface="Oswald"/>
                <a:sym typeface="Oswald"/>
              </a:rPr>
              <a:t> Advanced research and specialized engineering roles—such as PhD Research Fellow (4,743 days), Postdoctoral Researcher (4,650 days), and Robotics Engineer (4,588 days)—consistently sit at the upper end of the timeline scale with elevated hiring difficulty (dark pink/red).</a:t>
            </a:r>
            <a:endParaRPr sz="2200">
              <a:solidFill>
                <a:schemeClr val="dk1"/>
              </a:solidFill>
              <a:latin typeface="Oswald"/>
              <a:ea typeface="Oswald"/>
              <a:cs typeface="Oswald"/>
              <a:sym typeface="Oswa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8" name="Shape 278"/>
        <p:cNvGrpSpPr/>
        <p:nvPr/>
      </p:nvGrpSpPr>
      <p:grpSpPr>
        <a:xfrm>
          <a:off x="0" y="0"/>
          <a:ext cx="0" cy="0"/>
          <a:chOff x="0" y="0"/>
          <a:chExt cx="0" cy="0"/>
        </a:xfrm>
      </p:grpSpPr>
      <p:pic>
        <p:nvPicPr>
          <p:cNvPr descr="Operational &amp;amp; Recruitment Pipelines" id="279" name="Google Shape;279;p21"/>
          <p:cNvPicPr preferRelativeResize="0"/>
          <p:nvPr/>
        </p:nvPicPr>
        <p:blipFill rotWithShape="1">
          <a:blip r:embed="rId3">
            <a:alphaModFix/>
          </a:blip>
          <a:srcRect b="0" l="0" r="0" t="0"/>
          <a:stretch/>
        </p:blipFill>
        <p:spPr>
          <a:xfrm>
            <a:off x="1809750" y="-68125"/>
            <a:ext cx="8572500" cy="70143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3" name="Shape 283"/>
        <p:cNvGrpSpPr/>
        <p:nvPr/>
      </p:nvGrpSpPr>
      <p:grpSpPr>
        <a:xfrm>
          <a:off x="0" y="0"/>
          <a:ext cx="0" cy="0"/>
          <a:chOff x="0" y="0"/>
          <a:chExt cx="0" cy="0"/>
        </a:xfrm>
      </p:grpSpPr>
      <p:sp>
        <p:nvSpPr>
          <p:cNvPr id="284" name="Google Shape;284;h3130402f1d16313a_0_95"/>
          <p:cNvSpPr txBox="1"/>
          <p:nvPr/>
        </p:nvSpPr>
        <p:spPr>
          <a:xfrm>
            <a:off x="0" y="0"/>
            <a:ext cx="12192000" cy="65919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Full-Time Headcount Stability:</a:t>
            </a:r>
            <a:r>
              <a:rPr lang="en-US" sz="2500">
                <a:solidFill>
                  <a:schemeClr val="dk1"/>
                </a:solidFill>
                <a:latin typeface="Oswald"/>
                <a:ea typeface="Oswald"/>
                <a:cs typeface="Oswald"/>
                <a:sym typeface="Oswald"/>
              </a:rPr>
              <a:t> Core AI talent acquisition relies overwhelmingly on full-time employment contracts, maintaining a steady, non-volatile baseline of 20 to 28 job postings per month over the long term. Flexible contract and freelance options serve as minor operational buffers. </a:t>
            </a:r>
            <a:endParaRPr sz="2500">
              <a:solidFill>
                <a:schemeClr val="dk1"/>
              </a:solidFill>
              <a:latin typeface="Oswald"/>
              <a:ea typeface="Oswald"/>
              <a:cs typeface="Oswald"/>
              <a:sym typeface="Oswald"/>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Time-to-Fill Friction in Specialized Roles:</a:t>
            </a:r>
            <a:r>
              <a:rPr lang="en-US" sz="2500">
                <a:solidFill>
                  <a:schemeClr val="dk1"/>
                </a:solidFill>
                <a:latin typeface="Oswald"/>
                <a:ea typeface="Oswald"/>
                <a:cs typeface="Oswald"/>
                <a:sym typeface="Oswald"/>
              </a:rPr>
              <a:t> Requisition duration directly correlates with recruitment difficulty. Specialized technical roles—such as Prompt Engineer (5,022 days open), AI Infrastructure Engineer (4,960 days open), and Autonomous Vehicle Engineer (4,867 days open)—require significantly longer application windows and carry the highest hiring difficulty scores (~1,016.2).</a:t>
            </a:r>
            <a:endParaRPr sz="2500">
              <a:solidFill>
                <a:schemeClr val="dk1"/>
              </a:solidFill>
              <a:latin typeface="Oswald"/>
              <a:ea typeface="Oswald"/>
              <a:cs typeface="Oswald"/>
              <a:sym typeface="Oswald"/>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Low-Friction Talent Pathways:</a:t>
            </a:r>
            <a:r>
              <a:rPr lang="en-US" sz="2500">
                <a:solidFill>
                  <a:schemeClr val="dk1"/>
                </a:solidFill>
                <a:latin typeface="Oswald"/>
                <a:ea typeface="Oswald"/>
                <a:cs typeface="Oswald"/>
                <a:sym typeface="Oswald"/>
              </a:rPr>
              <a:t> Established foundational roles—including Data Scientist (3,286 days open), AI Operations Manager (3,348 days open), and Generative AI Engineer (3,503 days open)—feature substantially shorter recruitment cycles and lower difficulty scores (~668.3).</a:t>
            </a:r>
            <a:endParaRPr sz="2500">
              <a:solidFill>
                <a:schemeClr val="dk1"/>
              </a:solidFill>
              <a:latin typeface="Oswald"/>
              <a:ea typeface="Oswald"/>
              <a:cs typeface="Oswald"/>
              <a:sym typeface="Oswald"/>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latin typeface="Oswald"/>
                <a:ea typeface="Oswald"/>
                <a:cs typeface="Oswald"/>
                <a:sym typeface="Oswald"/>
              </a:rPr>
              <a:t>Strategic Recruiting Operations:</a:t>
            </a:r>
            <a:r>
              <a:rPr lang="en-US" sz="2500">
                <a:solidFill>
                  <a:schemeClr val="dk1"/>
                </a:solidFill>
                <a:latin typeface="Oswald"/>
                <a:ea typeface="Oswald"/>
                <a:cs typeface="Oswald"/>
                <a:sym typeface="Oswald"/>
              </a:rPr>
              <a:t> Talent acquisition teams can rely on predictable, evergreen posting velocity for standard full-time roles, but must deploy dedicated headhunting resources, internal upskilling, and contingent contract options to mitigate risk around bottleneck roles with extreme time-to-fill requirements.</a:t>
            </a:r>
            <a:endParaRPr sz="2500">
              <a:solidFill>
                <a:schemeClr val="dk1"/>
              </a:solidFill>
              <a:latin typeface="Oswald"/>
              <a:ea typeface="Oswald"/>
              <a:cs typeface="Oswald"/>
              <a:sym typeface="Oswa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2026-09-30T14:42:27Z</dcterms:created>
</cp:coreProperties>
</file>